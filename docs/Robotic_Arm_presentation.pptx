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2" r:id="rId7"/>
    <p:sldId id="263" r:id="rId8"/>
    <p:sldId id="264" r:id="rId9"/>
    <p:sldId id="265" r:id="rId10"/>
    <p:sldId id="266" r:id="rId11"/>
    <p:sldId id="267" r:id="rId12"/>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1143000" y="685800"/>
            <a:ext cx="4572000" cy="3429000"/>
          </a:xfrm>
          <a:prstGeom prst="rect">
            <a:avLst/>
          </a:prstGeom>
        </p:spPr>
        <p:txBody>
          <a:bodyPr/>
          <a:lstStyle/>
          <a:p>
            <a:endParaRPr/>
          </a:p>
        </p:txBody>
      </p:sp>
      <p:sp>
        <p:nvSpPr>
          <p:cNvPr id="18" name="Shape 1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r>
              <a:t>Title Text</a:t>
            </a:r>
          </a:p>
        </p:txBody>
      </p:sp>
      <p:sp>
        <p:nvSpPr>
          <p:cNvPr id="3" name="Body Level One…"/>
          <p:cNvSpPr txBox="1">
            <a:spLocks noGrp="1"/>
          </p:cNvSpPr>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0"/>
          <p:cNvSpPr txBox="1"/>
          <p:nvPr/>
        </p:nvSpPr>
        <p:spPr>
          <a:xfrm>
            <a:off x="502919" y="369062"/>
            <a:ext cx="4114801" cy="139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spc="200">
                <a:solidFill>
                  <a:srgbClr val="0A0A0A"/>
                </a:solidFill>
                <a:latin typeface="Consolas"/>
                <a:ea typeface="Consolas"/>
                <a:cs typeface="Consolas"/>
                <a:sym typeface="Consolas"/>
              </a:defRPr>
            </a:lvl1pPr>
          </a:lstStyle>
          <a:p>
            <a:r>
              <a:t>■  CS270 / TEAM PROJECT</a:t>
            </a:r>
          </a:p>
        </p:txBody>
      </p:sp>
      <p:sp>
        <p:nvSpPr>
          <p:cNvPr id="21" name="Text 1"/>
          <p:cNvSpPr txBox="1"/>
          <p:nvPr/>
        </p:nvSpPr>
        <p:spPr>
          <a:xfrm>
            <a:off x="502920" y="369062"/>
            <a:ext cx="8138160" cy="139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spc="200">
                <a:solidFill>
                  <a:srgbClr val="6B6B6B"/>
                </a:solidFill>
                <a:latin typeface="Consolas"/>
                <a:ea typeface="Consolas"/>
                <a:cs typeface="Consolas"/>
                <a:sym typeface="Consolas"/>
              </a:defRPr>
            </a:lvl1pPr>
          </a:lstStyle>
          <a:p>
            <a:endParaRPr dirty="0"/>
          </a:p>
        </p:txBody>
      </p:sp>
      <p:sp>
        <p:nvSpPr>
          <p:cNvPr id="22" name="Shape 2"/>
          <p:cNvSpPr/>
          <p:nvPr/>
        </p:nvSpPr>
        <p:spPr>
          <a:xfrm>
            <a:off x="502920" y="667512"/>
            <a:ext cx="8138160" cy="1"/>
          </a:xfrm>
          <a:prstGeom prst="line">
            <a:avLst/>
          </a:prstGeom>
          <a:ln>
            <a:solidFill>
              <a:srgbClr val="E6E6E6"/>
            </a:solidFill>
          </a:ln>
        </p:spPr>
        <p:txBody>
          <a:bodyPr lIns="45719" rIns="45719"/>
          <a:lstStyle/>
          <a:p>
            <a:endParaRPr/>
          </a:p>
        </p:txBody>
      </p:sp>
      <p:sp>
        <p:nvSpPr>
          <p:cNvPr id="23" name="Text 3"/>
          <p:cNvSpPr txBox="1"/>
          <p:nvPr/>
        </p:nvSpPr>
        <p:spPr>
          <a:xfrm>
            <a:off x="502919" y="1033780"/>
            <a:ext cx="77724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800" spc="200">
                <a:solidFill>
                  <a:srgbClr val="2E7D52"/>
                </a:solidFill>
                <a:latin typeface="Consolas"/>
                <a:ea typeface="Consolas"/>
                <a:cs typeface="Consolas"/>
                <a:sym typeface="Consolas"/>
              </a:defRPr>
            </a:pPr>
            <a:r>
              <a:rPr dirty="0"/>
              <a:t>■  </a:t>
            </a:r>
            <a:r>
              <a:rPr dirty="0">
                <a:solidFill>
                  <a:srgbClr val="6B6B6B"/>
                </a:solidFill>
              </a:rPr>
              <a:t>A PERCEPTION-TO-MOTION PLATFORM</a:t>
            </a:r>
          </a:p>
        </p:txBody>
      </p:sp>
      <p:sp>
        <p:nvSpPr>
          <p:cNvPr id="24" name="Text 4"/>
          <p:cNvSpPr txBox="1"/>
          <p:nvPr/>
        </p:nvSpPr>
        <p:spPr>
          <a:xfrm>
            <a:off x="502920" y="1337141"/>
            <a:ext cx="8138160" cy="18062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5800">
                <a:solidFill>
                  <a:srgbClr val="0A0A0A"/>
                </a:solidFill>
              </a:defRPr>
            </a:pPr>
            <a:r>
              <a:rPr dirty="0"/>
              <a:t>Vision-Guided </a:t>
            </a:r>
            <a:r>
              <a:rPr dirty="0">
                <a:solidFill>
                  <a:srgbClr val="2E7D52"/>
                </a:solidFill>
                <a:latin typeface="Consolas"/>
                <a:ea typeface="Consolas"/>
                <a:cs typeface="Consolas"/>
                <a:sym typeface="Consolas"/>
              </a:rPr>
              <a:t>Remote</a:t>
            </a:r>
          </a:p>
          <a:p>
            <a:pPr>
              <a:defRPr sz="5800">
                <a:solidFill>
                  <a:srgbClr val="0A0A0A"/>
                </a:solidFill>
              </a:defRPr>
            </a:pPr>
            <a:r>
              <a:rPr dirty="0"/>
              <a:t>Robotic Arm Platform</a:t>
            </a:r>
          </a:p>
        </p:txBody>
      </p:sp>
      <p:sp>
        <p:nvSpPr>
          <p:cNvPr id="25" name="Text 5"/>
          <p:cNvSpPr txBox="1"/>
          <p:nvPr/>
        </p:nvSpPr>
        <p:spPr>
          <a:xfrm>
            <a:off x="502920" y="3343464"/>
            <a:ext cx="7132319" cy="189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a:solidFill>
                  <a:srgbClr val="6B6B6B"/>
                </a:solidFill>
              </a:defRPr>
            </a:lvl1pPr>
          </a:lstStyle>
          <a:p>
            <a:r>
              <a:t>Hand tracking, remote control, and physical interaction through a LEGO robotic arm.</a:t>
            </a:r>
          </a:p>
        </p:txBody>
      </p:sp>
      <p:sp>
        <p:nvSpPr>
          <p:cNvPr id="26" name="Shape 6"/>
          <p:cNvSpPr/>
          <p:nvPr/>
        </p:nvSpPr>
        <p:spPr>
          <a:xfrm>
            <a:off x="502920" y="3794759"/>
            <a:ext cx="8138160" cy="1"/>
          </a:xfrm>
          <a:prstGeom prst="line">
            <a:avLst/>
          </a:prstGeom>
          <a:ln>
            <a:solidFill>
              <a:srgbClr val="E6E6E6"/>
            </a:solidFill>
          </a:ln>
        </p:spPr>
        <p:txBody>
          <a:bodyPr lIns="45719" rIns="45719"/>
          <a:lstStyle/>
          <a:p>
            <a:endParaRPr/>
          </a:p>
        </p:txBody>
      </p:sp>
      <p:sp>
        <p:nvSpPr>
          <p:cNvPr id="27" name="Text 7"/>
          <p:cNvSpPr txBox="1"/>
          <p:nvPr/>
        </p:nvSpPr>
        <p:spPr>
          <a:xfrm>
            <a:off x="606046" y="3993193"/>
            <a:ext cx="256032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800" spc="100">
                <a:solidFill>
                  <a:srgbClr val="6B6B6B"/>
                </a:solidFill>
                <a:latin typeface="Consolas"/>
                <a:ea typeface="Consolas"/>
                <a:cs typeface="Consolas"/>
                <a:sym typeface="Consolas"/>
              </a:defRPr>
            </a:pPr>
            <a:r>
              <a:rPr dirty="0"/>
              <a:t>Presenters  </a:t>
            </a:r>
            <a:r>
              <a:rPr b="1" dirty="0">
                <a:solidFill>
                  <a:srgbClr val="0A0A0A"/>
                </a:solidFill>
              </a:rPr>
              <a:t>Team </a:t>
            </a:r>
            <a:r>
              <a:rPr lang="en-US" b="1" dirty="0" smtClean="0">
                <a:solidFill>
                  <a:srgbClr val="0A0A0A"/>
                </a:solidFill>
              </a:rPr>
              <a:t>1</a:t>
            </a:r>
            <a:endParaRPr b="1" dirty="0">
              <a:solidFill>
                <a:srgbClr val="0A0A0A"/>
              </a:solidFill>
            </a:endParaRPr>
          </a:p>
        </p:txBody>
      </p:sp>
      <p:sp>
        <p:nvSpPr>
          <p:cNvPr id="28" name="Text 8"/>
          <p:cNvSpPr txBox="1"/>
          <p:nvPr/>
        </p:nvSpPr>
        <p:spPr>
          <a:xfrm>
            <a:off x="5599153" y="3993194"/>
            <a:ext cx="256032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800" spc="100">
                <a:solidFill>
                  <a:srgbClr val="6B6B6B"/>
                </a:solidFill>
                <a:latin typeface="Consolas"/>
                <a:ea typeface="Consolas"/>
                <a:cs typeface="Consolas"/>
                <a:sym typeface="Consolas"/>
              </a:defRPr>
            </a:pPr>
            <a:r>
              <a:t>Course  </a:t>
            </a:r>
            <a:r>
              <a:rPr b="1">
                <a:solidFill>
                  <a:srgbClr val="0A0A0A"/>
                </a:solidFill>
              </a:rPr>
              <a:t>CS270</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0"/>
          <p:cNvSpPr txBox="1"/>
          <p:nvPr/>
        </p:nvSpPr>
        <p:spPr>
          <a:xfrm>
            <a:off x="502919" y="398272"/>
            <a:ext cx="6347767"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180">
                <a:solidFill>
                  <a:srgbClr val="6B6B6B"/>
                </a:solidFill>
                <a:latin typeface="Consolas"/>
                <a:ea typeface="Consolas"/>
                <a:cs typeface="Consolas"/>
                <a:sym typeface="Consolas"/>
              </a:defRPr>
            </a:lvl1pPr>
          </a:lstStyle>
          <a:p>
            <a:r>
              <a:t>■  01  /  PROJECT OVERVIEW</a:t>
            </a:r>
          </a:p>
        </p:txBody>
      </p:sp>
      <p:sp>
        <p:nvSpPr>
          <p:cNvPr id="32" name="Text 1"/>
          <p:cNvSpPr txBox="1"/>
          <p:nvPr/>
        </p:nvSpPr>
        <p:spPr>
          <a:xfrm>
            <a:off x="502920" y="398272"/>
            <a:ext cx="813816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800" spc="100">
                <a:solidFill>
                  <a:srgbClr val="9A9A9A"/>
                </a:solidFill>
                <a:latin typeface="Consolas"/>
                <a:ea typeface="Consolas"/>
                <a:cs typeface="Consolas"/>
                <a:sym typeface="Consolas"/>
              </a:defRPr>
            </a:lvl1pPr>
          </a:lstStyle>
          <a:p>
            <a:r>
              <a:t>02 / 12</a:t>
            </a:r>
          </a:p>
        </p:txBody>
      </p:sp>
      <p:sp>
        <p:nvSpPr>
          <p:cNvPr id="33" name="Shape 2"/>
          <p:cNvSpPr/>
          <p:nvPr/>
        </p:nvSpPr>
        <p:spPr>
          <a:xfrm>
            <a:off x="502920" y="704087"/>
            <a:ext cx="8138160" cy="1"/>
          </a:xfrm>
          <a:prstGeom prst="line">
            <a:avLst/>
          </a:prstGeom>
          <a:ln>
            <a:solidFill>
              <a:srgbClr val="E6E6E6"/>
            </a:solidFill>
          </a:ln>
        </p:spPr>
        <p:txBody>
          <a:bodyPr lIns="45719" rIns="45719"/>
          <a:lstStyle/>
          <a:p>
            <a:endParaRPr/>
          </a:p>
        </p:txBody>
      </p:sp>
      <p:sp>
        <p:nvSpPr>
          <p:cNvPr id="34" name="Text 3"/>
          <p:cNvSpPr txBox="1"/>
          <p:nvPr/>
        </p:nvSpPr>
        <p:spPr>
          <a:xfrm>
            <a:off x="502919" y="653167"/>
            <a:ext cx="3657601" cy="18209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3000">
                <a:solidFill>
                  <a:srgbClr val="0A0A0A"/>
                </a:solidFill>
              </a:defRPr>
            </a:pPr>
            <a:r>
              <a:rPr dirty="0"/>
              <a:t>A camera-controlled arm that </a:t>
            </a:r>
            <a:r>
              <a:rPr dirty="0">
                <a:solidFill>
                  <a:srgbClr val="2E7D52"/>
                </a:solidFill>
                <a:latin typeface="Consolas"/>
                <a:ea typeface="Consolas"/>
                <a:cs typeface="Consolas"/>
                <a:sym typeface="Consolas"/>
              </a:rPr>
              <a:t>interprets</a:t>
            </a:r>
          </a:p>
          <a:p>
            <a:pPr>
              <a:defRPr sz="3000">
                <a:solidFill>
                  <a:srgbClr val="0A0A0A"/>
                </a:solidFill>
              </a:defRPr>
            </a:pPr>
            <a:r>
              <a:rPr dirty="0"/>
              <a:t>human movement.</a:t>
            </a:r>
          </a:p>
        </p:txBody>
      </p:sp>
      <p:sp>
        <p:nvSpPr>
          <p:cNvPr id="35" name="Text 4"/>
          <p:cNvSpPr txBox="1"/>
          <p:nvPr/>
        </p:nvSpPr>
        <p:spPr>
          <a:xfrm>
            <a:off x="502919" y="2479479"/>
            <a:ext cx="3657601" cy="57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a:solidFill>
                  <a:srgbClr val="1F1F1F"/>
                </a:solidFill>
              </a:defRPr>
            </a:lvl1pPr>
          </a:lstStyle>
          <a:p>
            <a:r>
              <a:t>A camera observes the user. Computer vision extracts hand and target state. Control logic chooses an intent. The robotic arm executes a calibrated motion.</a:t>
            </a:r>
          </a:p>
        </p:txBody>
      </p:sp>
      <p:sp>
        <p:nvSpPr>
          <p:cNvPr id="36" name="Text 5"/>
          <p:cNvSpPr txBox="1"/>
          <p:nvPr/>
        </p:nvSpPr>
        <p:spPr>
          <a:xfrm>
            <a:off x="4572000" y="930456"/>
            <a:ext cx="4069080"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500">
                <a:solidFill>
                  <a:srgbClr val="1F1F1F"/>
                </a:solidFill>
              </a:defRPr>
            </a:lvl1pPr>
          </a:lstStyle>
          <a:p>
            <a:r>
              <a:rPr dirty="0"/>
              <a:t>The arm's value is the general control </a:t>
            </a:r>
            <a:r>
              <a:rPr dirty="0" smtClean="0"/>
              <a:t>platform</a:t>
            </a:r>
            <a:r>
              <a:rPr lang="en-US" dirty="0" smtClean="0"/>
              <a:t>,</a:t>
            </a:r>
            <a:r>
              <a:rPr dirty="0" smtClean="0"/>
              <a:t> </a:t>
            </a:r>
            <a:r>
              <a:rPr dirty="0"/>
              <a:t>not any single trick.</a:t>
            </a:r>
          </a:p>
        </p:txBody>
      </p:sp>
      <p:sp>
        <p:nvSpPr>
          <p:cNvPr id="37" name="Text 6"/>
          <p:cNvSpPr txBox="1"/>
          <p:nvPr/>
        </p:nvSpPr>
        <p:spPr>
          <a:xfrm>
            <a:off x="4572000" y="1669219"/>
            <a:ext cx="4069080" cy="7763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a:solidFill>
                  <a:srgbClr val="6B6B6B"/>
                </a:solidFill>
              </a:defRPr>
            </a:lvl1pPr>
          </a:lstStyle>
          <a:p>
            <a:r>
              <a:rPr dirty="0"/>
              <a:t>A gesture game can be one audience-facing interaction. The same tracking and motion layers also support grasping, pointing, hand-following, scripted social gestures, and manual remote commands.</a:t>
            </a:r>
          </a:p>
        </p:txBody>
      </p:sp>
      <p:sp>
        <p:nvSpPr>
          <p:cNvPr id="38" name="Shape 7"/>
          <p:cNvSpPr/>
          <p:nvPr/>
        </p:nvSpPr>
        <p:spPr>
          <a:xfrm>
            <a:off x="4572000" y="2834639"/>
            <a:ext cx="1298448" cy="274321"/>
          </a:xfrm>
          <a:prstGeom prst="roundRect">
            <a:avLst>
              <a:gd name="adj" fmla="val 16667"/>
            </a:avLst>
          </a:prstGeom>
          <a:solidFill>
            <a:srgbClr val="FFFFFF"/>
          </a:solidFill>
          <a:ln w="12700">
            <a:solidFill>
              <a:srgbClr val="E6E6E6"/>
            </a:solidFill>
          </a:ln>
        </p:spPr>
        <p:txBody>
          <a:bodyPr lIns="45719" rIns="45719"/>
          <a:lstStyle/>
          <a:p>
            <a:endParaRPr/>
          </a:p>
        </p:txBody>
      </p:sp>
      <p:sp>
        <p:nvSpPr>
          <p:cNvPr id="39" name="Text 8"/>
          <p:cNvSpPr txBox="1"/>
          <p:nvPr/>
        </p:nvSpPr>
        <p:spPr>
          <a:xfrm>
            <a:off x="4572000" y="2908299"/>
            <a:ext cx="1298448"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spc="150">
                <a:solidFill>
                  <a:srgbClr val="6B6B6B"/>
                </a:solidFill>
                <a:latin typeface="Consolas"/>
                <a:ea typeface="Consolas"/>
                <a:cs typeface="Consolas"/>
                <a:sym typeface="Consolas"/>
              </a:defRPr>
            </a:lvl1pPr>
          </a:lstStyle>
          <a:p>
            <a:r>
              <a:t>Interactive</a:t>
            </a:r>
          </a:p>
        </p:txBody>
      </p:sp>
      <p:sp>
        <p:nvSpPr>
          <p:cNvPr id="40" name="Shape 9"/>
          <p:cNvSpPr/>
          <p:nvPr/>
        </p:nvSpPr>
        <p:spPr>
          <a:xfrm>
            <a:off x="5961888" y="2834639"/>
            <a:ext cx="1298449" cy="274321"/>
          </a:xfrm>
          <a:prstGeom prst="roundRect">
            <a:avLst>
              <a:gd name="adj" fmla="val 16667"/>
            </a:avLst>
          </a:prstGeom>
          <a:solidFill>
            <a:srgbClr val="FFFFFF"/>
          </a:solidFill>
          <a:ln w="12700">
            <a:solidFill>
              <a:srgbClr val="E6E6E6"/>
            </a:solidFill>
          </a:ln>
        </p:spPr>
        <p:txBody>
          <a:bodyPr lIns="45719" rIns="45719"/>
          <a:lstStyle/>
          <a:p>
            <a:endParaRPr/>
          </a:p>
        </p:txBody>
      </p:sp>
      <p:sp>
        <p:nvSpPr>
          <p:cNvPr id="41" name="Text 10"/>
          <p:cNvSpPr txBox="1"/>
          <p:nvPr/>
        </p:nvSpPr>
        <p:spPr>
          <a:xfrm>
            <a:off x="5961888" y="2908299"/>
            <a:ext cx="129844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spc="150">
                <a:solidFill>
                  <a:srgbClr val="6B6B6B"/>
                </a:solidFill>
                <a:latin typeface="Consolas"/>
                <a:ea typeface="Consolas"/>
                <a:cs typeface="Consolas"/>
                <a:sym typeface="Consolas"/>
              </a:defRPr>
            </a:lvl1pPr>
          </a:lstStyle>
          <a:p>
            <a:r>
              <a:t>Responsive</a:t>
            </a:r>
          </a:p>
        </p:txBody>
      </p:sp>
      <p:sp>
        <p:nvSpPr>
          <p:cNvPr id="42" name="Shape 11"/>
          <p:cNvSpPr/>
          <p:nvPr/>
        </p:nvSpPr>
        <p:spPr>
          <a:xfrm>
            <a:off x="7351776" y="2834639"/>
            <a:ext cx="1298449" cy="274321"/>
          </a:xfrm>
          <a:prstGeom prst="roundRect">
            <a:avLst>
              <a:gd name="adj" fmla="val 16667"/>
            </a:avLst>
          </a:prstGeom>
          <a:solidFill>
            <a:srgbClr val="FFFFFF"/>
          </a:solidFill>
          <a:ln w="12700">
            <a:solidFill>
              <a:srgbClr val="E6E6E6"/>
            </a:solidFill>
          </a:ln>
        </p:spPr>
        <p:txBody>
          <a:bodyPr lIns="45719" rIns="45719"/>
          <a:lstStyle/>
          <a:p>
            <a:endParaRPr/>
          </a:p>
        </p:txBody>
      </p:sp>
      <p:sp>
        <p:nvSpPr>
          <p:cNvPr id="43" name="Text 12"/>
          <p:cNvSpPr txBox="1"/>
          <p:nvPr/>
        </p:nvSpPr>
        <p:spPr>
          <a:xfrm>
            <a:off x="7351776" y="2908299"/>
            <a:ext cx="129844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spc="150">
                <a:solidFill>
                  <a:srgbClr val="6B6B6B"/>
                </a:solidFill>
                <a:latin typeface="Consolas"/>
                <a:ea typeface="Consolas"/>
                <a:cs typeface="Consolas"/>
                <a:sym typeface="Consolas"/>
              </a:defRPr>
            </a:lvl1pPr>
          </a:lstStyle>
          <a:p>
            <a:r>
              <a:t>Understandable</a:t>
            </a:r>
          </a:p>
        </p:txBody>
      </p:sp>
      <p:sp>
        <p:nvSpPr>
          <p:cNvPr id="44" name="Shape 13"/>
          <p:cNvSpPr/>
          <p:nvPr/>
        </p:nvSpPr>
        <p:spPr>
          <a:xfrm>
            <a:off x="502919" y="4882896"/>
            <a:ext cx="73153" cy="73153"/>
          </a:xfrm>
          <a:prstGeom prst="rect">
            <a:avLst/>
          </a:prstGeom>
          <a:solidFill>
            <a:srgbClr val="0A0A0A"/>
          </a:solidFill>
          <a:ln w="12700">
            <a:solidFill>
              <a:srgbClr val="0A0A0A"/>
            </a:solidFill>
          </a:ln>
        </p:spPr>
        <p:txBody>
          <a:bodyPr lIns="45719" rIns="45719"/>
          <a:lstStyle/>
          <a:p>
            <a:endParaRPr/>
          </a:p>
        </p:txBody>
      </p:sp>
      <p:sp>
        <p:nvSpPr>
          <p:cNvPr id="45" name="Text 14"/>
          <p:cNvSpPr txBox="1"/>
          <p:nvPr/>
        </p:nvSpPr>
        <p:spPr>
          <a:xfrm>
            <a:off x="658368" y="4883404"/>
            <a:ext cx="27432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spc="150">
                <a:solidFill>
                  <a:srgbClr val="9A9A9A"/>
                </a:solidFill>
                <a:latin typeface="Consolas"/>
                <a:ea typeface="Consolas"/>
                <a:cs typeface="Consolas"/>
                <a:sym typeface="Consolas"/>
              </a:defRPr>
            </a:lvl1pPr>
          </a:lstStyle>
          <a:p>
            <a:r>
              <a:t>Vision-Guided Robotic Arm</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 0"/>
          <p:cNvSpPr txBox="1"/>
          <p:nvPr/>
        </p:nvSpPr>
        <p:spPr>
          <a:xfrm>
            <a:off x="502919" y="398272"/>
            <a:ext cx="6347767"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180">
                <a:solidFill>
                  <a:srgbClr val="6B6B6B"/>
                </a:solidFill>
                <a:latin typeface="Consolas"/>
                <a:ea typeface="Consolas"/>
                <a:cs typeface="Consolas"/>
                <a:sym typeface="Consolas"/>
              </a:defRPr>
            </a:lvl1pPr>
          </a:lstStyle>
          <a:p>
            <a:r>
              <a:rPr dirty="0"/>
              <a:t>■  02  /  </a:t>
            </a:r>
            <a:r>
              <a:rPr lang="en-US" dirty="0" smtClean="0"/>
              <a:t>PROJECT OVERVIEW</a:t>
            </a:r>
            <a:endParaRPr dirty="0"/>
          </a:p>
        </p:txBody>
      </p:sp>
      <p:sp>
        <p:nvSpPr>
          <p:cNvPr id="48" name="Text 1"/>
          <p:cNvSpPr txBox="1"/>
          <p:nvPr/>
        </p:nvSpPr>
        <p:spPr>
          <a:xfrm>
            <a:off x="502920" y="398272"/>
            <a:ext cx="813816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800" spc="100">
                <a:solidFill>
                  <a:srgbClr val="9A9A9A"/>
                </a:solidFill>
                <a:latin typeface="Consolas"/>
                <a:ea typeface="Consolas"/>
                <a:cs typeface="Consolas"/>
                <a:sym typeface="Consolas"/>
              </a:defRPr>
            </a:lvl1pPr>
          </a:lstStyle>
          <a:p>
            <a:r>
              <a:t>03 / 12</a:t>
            </a:r>
          </a:p>
        </p:txBody>
      </p:sp>
      <p:sp>
        <p:nvSpPr>
          <p:cNvPr id="49" name="Shape 2"/>
          <p:cNvSpPr/>
          <p:nvPr/>
        </p:nvSpPr>
        <p:spPr>
          <a:xfrm>
            <a:off x="502920" y="704087"/>
            <a:ext cx="8138160" cy="1"/>
          </a:xfrm>
          <a:prstGeom prst="line">
            <a:avLst/>
          </a:prstGeom>
          <a:ln>
            <a:solidFill>
              <a:srgbClr val="E6E6E6"/>
            </a:solidFill>
          </a:ln>
        </p:spPr>
        <p:txBody>
          <a:bodyPr lIns="45719" rIns="45719"/>
          <a:lstStyle/>
          <a:p>
            <a:endParaRPr/>
          </a:p>
        </p:txBody>
      </p:sp>
      <p:sp>
        <p:nvSpPr>
          <p:cNvPr id="50" name="Text 3"/>
          <p:cNvSpPr txBox="1"/>
          <p:nvPr/>
        </p:nvSpPr>
        <p:spPr>
          <a:xfrm>
            <a:off x="502920" y="732145"/>
            <a:ext cx="8138160" cy="12331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2600">
                <a:solidFill>
                  <a:srgbClr val="0A0A0A"/>
                </a:solidFill>
              </a:defRPr>
            </a:pPr>
            <a:r>
              <a:t>The technical center is hand-motion</a:t>
            </a:r>
          </a:p>
          <a:p>
            <a:pPr>
              <a:defRPr sz="2600">
                <a:solidFill>
                  <a:srgbClr val="0A0A0A"/>
                </a:solidFill>
              </a:defRPr>
            </a:pPr>
            <a:r>
              <a:t>detection and classification, </a:t>
            </a:r>
          </a:p>
          <a:p>
            <a:pPr>
              <a:defRPr sz="2600">
                <a:solidFill>
                  <a:srgbClr val="2E7D52"/>
                </a:solidFill>
                <a:latin typeface="Consolas"/>
                <a:ea typeface="Consolas"/>
                <a:cs typeface="Consolas"/>
                <a:sym typeface="Consolas"/>
              </a:defRPr>
            </a:pPr>
            <a:r>
              <a:t>with low delay</a:t>
            </a:r>
            <a:r>
              <a:rPr>
                <a:solidFill>
                  <a:srgbClr val="0A0A0A"/>
                </a:solidFill>
                <a:latin typeface="+mn-lt"/>
                <a:ea typeface="+mn-ea"/>
                <a:cs typeface="+mn-cs"/>
                <a:sym typeface="Calibri"/>
              </a:rPr>
              <a:t>.</a:t>
            </a:r>
          </a:p>
        </p:txBody>
      </p:sp>
      <p:sp>
        <p:nvSpPr>
          <p:cNvPr id="51" name="Shape 4"/>
          <p:cNvSpPr/>
          <p:nvPr/>
        </p:nvSpPr>
        <p:spPr>
          <a:xfrm>
            <a:off x="502919" y="2029967"/>
            <a:ext cx="3931922" cy="1"/>
          </a:xfrm>
          <a:prstGeom prst="line">
            <a:avLst/>
          </a:prstGeom>
          <a:ln>
            <a:solidFill>
              <a:srgbClr val="0A0A0A"/>
            </a:solidFill>
          </a:ln>
        </p:spPr>
        <p:txBody>
          <a:bodyPr lIns="45719" rIns="45719"/>
          <a:lstStyle/>
          <a:p>
            <a:endParaRPr/>
          </a:p>
        </p:txBody>
      </p:sp>
      <p:sp>
        <p:nvSpPr>
          <p:cNvPr id="52" name="Text 5"/>
          <p:cNvSpPr txBox="1"/>
          <p:nvPr/>
        </p:nvSpPr>
        <p:spPr>
          <a:xfrm>
            <a:off x="502919" y="2311593"/>
            <a:ext cx="3931922" cy="1865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500" b="1">
                <a:solidFill>
                  <a:srgbClr val="0A0A0A"/>
                </a:solidFill>
              </a:defRPr>
            </a:lvl1pPr>
          </a:lstStyle>
          <a:p>
            <a:r>
              <a:rPr dirty="0"/>
              <a:t>Camera choice — evaluated, not assumed</a:t>
            </a:r>
          </a:p>
        </p:txBody>
      </p:sp>
      <p:sp>
        <p:nvSpPr>
          <p:cNvPr id="53" name="Text 6"/>
          <p:cNvSpPr txBox="1"/>
          <p:nvPr/>
        </p:nvSpPr>
        <p:spPr>
          <a:xfrm>
            <a:off x="502919" y="2743200"/>
            <a:ext cx="3931922"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200">
                <a:solidFill>
                  <a:srgbClr val="6B6B6B"/>
                </a:solidFill>
              </a:defRPr>
            </a:lvl1pPr>
          </a:lstStyle>
          <a:p>
            <a:r>
              <a:rPr dirty="0" smtClean="0"/>
              <a:t>A </a:t>
            </a:r>
            <a:r>
              <a:rPr dirty="0"/>
              <a:t>Pi camera fits a compact embedded build once mounting is stable. </a:t>
            </a:r>
          </a:p>
        </p:txBody>
      </p:sp>
      <p:sp>
        <p:nvSpPr>
          <p:cNvPr id="54" name="Shape 7"/>
          <p:cNvSpPr/>
          <p:nvPr/>
        </p:nvSpPr>
        <p:spPr>
          <a:xfrm>
            <a:off x="4709159" y="2029967"/>
            <a:ext cx="3931921" cy="1"/>
          </a:xfrm>
          <a:prstGeom prst="line">
            <a:avLst/>
          </a:prstGeom>
          <a:ln>
            <a:solidFill>
              <a:srgbClr val="0A0A0A"/>
            </a:solidFill>
          </a:ln>
        </p:spPr>
        <p:txBody>
          <a:bodyPr lIns="45719" rIns="45719"/>
          <a:lstStyle/>
          <a:p>
            <a:endParaRPr/>
          </a:p>
        </p:txBody>
      </p:sp>
      <p:sp>
        <p:nvSpPr>
          <p:cNvPr id="55" name="Text 8"/>
          <p:cNvSpPr txBox="1"/>
          <p:nvPr/>
        </p:nvSpPr>
        <p:spPr>
          <a:xfrm>
            <a:off x="4709159" y="2311593"/>
            <a:ext cx="3931921" cy="1865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500" b="1">
                <a:solidFill>
                  <a:srgbClr val="0A0A0A"/>
                </a:solidFill>
              </a:defRPr>
            </a:lvl1pPr>
          </a:lstStyle>
          <a:p>
            <a:r>
              <a:t>Hand recognition — broader scope</a:t>
            </a:r>
          </a:p>
        </p:txBody>
      </p:sp>
      <p:sp>
        <p:nvSpPr>
          <p:cNvPr id="56" name="Text 9"/>
          <p:cNvSpPr txBox="1"/>
          <p:nvPr/>
        </p:nvSpPr>
        <p:spPr>
          <a:xfrm>
            <a:off x="4709159" y="2743200"/>
            <a:ext cx="3931921" cy="7283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200">
                <a:solidFill>
                  <a:srgbClr val="6B6B6B"/>
                </a:solidFill>
              </a:defRPr>
            </a:lvl1pPr>
          </a:lstStyle>
          <a:p>
            <a:r>
              <a:t>Instead of a few static signs, we track hand landmarks, palm position, finger openness, thumb orientation, pointing direction, and recent motion history. New intents can be mapped to new robot actions without rebuilding the hardware.</a:t>
            </a:r>
          </a:p>
        </p:txBody>
      </p:sp>
      <p:sp>
        <p:nvSpPr>
          <p:cNvPr id="57" name="Shape 10"/>
          <p:cNvSpPr/>
          <p:nvPr/>
        </p:nvSpPr>
        <p:spPr>
          <a:xfrm>
            <a:off x="502919" y="4882896"/>
            <a:ext cx="73153" cy="73153"/>
          </a:xfrm>
          <a:prstGeom prst="rect">
            <a:avLst/>
          </a:prstGeom>
          <a:solidFill>
            <a:srgbClr val="0A0A0A"/>
          </a:solidFill>
          <a:ln w="12700">
            <a:solidFill>
              <a:srgbClr val="0A0A0A"/>
            </a:solidFill>
          </a:ln>
        </p:spPr>
        <p:txBody>
          <a:bodyPr lIns="45719" rIns="45719"/>
          <a:lstStyle/>
          <a:p>
            <a:endParaRPr/>
          </a:p>
        </p:txBody>
      </p:sp>
      <p:sp>
        <p:nvSpPr>
          <p:cNvPr id="58" name="Text 11"/>
          <p:cNvSpPr txBox="1"/>
          <p:nvPr/>
        </p:nvSpPr>
        <p:spPr>
          <a:xfrm>
            <a:off x="658368" y="4883404"/>
            <a:ext cx="27432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spc="150">
                <a:solidFill>
                  <a:srgbClr val="9A9A9A"/>
                </a:solidFill>
                <a:latin typeface="Consolas"/>
                <a:ea typeface="Consolas"/>
                <a:cs typeface="Consolas"/>
                <a:sym typeface="Consolas"/>
              </a:defRPr>
            </a:lvl1pPr>
          </a:lstStyle>
          <a:p>
            <a:r>
              <a:t>Vision-Guided Robotic Arm</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ext 0"/>
          <p:cNvSpPr txBox="1"/>
          <p:nvPr/>
        </p:nvSpPr>
        <p:spPr>
          <a:xfrm>
            <a:off x="502919" y="398272"/>
            <a:ext cx="6347767"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180">
                <a:solidFill>
                  <a:srgbClr val="6B6B6B"/>
                </a:solidFill>
                <a:latin typeface="Consolas"/>
                <a:ea typeface="Consolas"/>
                <a:cs typeface="Consolas"/>
                <a:sym typeface="Consolas"/>
              </a:defRPr>
            </a:lvl1pPr>
          </a:lstStyle>
          <a:p>
            <a:r>
              <a:t>■  03  /  SYSTEM GOALS</a:t>
            </a:r>
          </a:p>
        </p:txBody>
      </p:sp>
      <p:sp>
        <p:nvSpPr>
          <p:cNvPr id="61" name="Text 1"/>
          <p:cNvSpPr txBox="1"/>
          <p:nvPr/>
        </p:nvSpPr>
        <p:spPr>
          <a:xfrm>
            <a:off x="502920" y="398272"/>
            <a:ext cx="813816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800" spc="100">
                <a:solidFill>
                  <a:srgbClr val="9A9A9A"/>
                </a:solidFill>
                <a:latin typeface="Consolas"/>
                <a:ea typeface="Consolas"/>
                <a:cs typeface="Consolas"/>
                <a:sym typeface="Consolas"/>
              </a:defRPr>
            </a:lvl1pPr>
          </a:lstStyle>
          <a:p>
            <a:r>
              <a:t>04 / 12</a:t>
            </a:r>
          </a:p>
        </p:txBody>
      </p:sp>
      <p:sp>
        <p:nvSpPr>
          <p:cNvPr id="62" name="Shape 2"/>
          <p:cNvSpPr/>
          <p:nvPr/>
        </p:nvSpPr>
        <p:spPr>
          <a:xfrm>
            <a:off x="502920" y="704087"/>
            <a:ext cx="8138160" cy="1"/>
          </a:xfrm>
          <a:prstGeom prst="line">
            <a:avLst/>
          </a:prstGeom>
          <a:ln>
            <a:solidFill>
              <a:srgbClr val="E6E6E6"/>
            </a:solidFill>
          </a:ln>
        </p:spPr>
        <p:txBody>
          <a:bodyPr lIns="45719" rIns="45719"/>
          <a:lstStyle/>
          <a:p>
            <a:endParaRPr/>
          </a:p>
        </p:txBody>
      </p:sp>
      <p:sp>
        <p:nvSpPr>
          <p:cNvPr id="63" name="Text 3"/>
          <p:cNvSpPr txBox="1"/>
          <p:nvPr/>
        </p:nvSpPr>
        <p:spPr>
          <a:xfrm>
            <a:off x="502920" y="885323"/>
            <a:ext cx="8138160" cy="8811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3000">
                <a:solidFill>
                  <a:srgbClr val="0A0A0A"/>
                </a:solidFill>
              </a:defRPr>
            </a:pPr>
            <a:r>
              <a:t>Five goals shape every</a:t>
            </a:r>
          </a:p>
          <a:p>
            <a:pPr>
              <a:defRPr sz="3000">
                <a:solidFill>
                  <a:srgbClr val="0A0A0A"/>
                </a:solidFill>
              </a:defRPr>
            </a:pPr>
            <a:r>
              <a:t>implementation decision.</a:t>
            </a:r>
          </a:p>
        </p:txBody>
      </p:sp>
      <p:sp>
        <p:nvSpPr>
          <p:cNvPr id="64" name="Shape 4"/>
          <p:cNvSpPr/>
          <p:nvPr/>
        </p:nvSpPr>
        <p:spPr>
          <a:xfrm>
            <a:off x="502920" y="1874520"/>
            <a:ext cx="8138160" cy="1"/>
          </a:xfrm>
          <a:prstGeom prst="line">
            <a:avLst/>
          </a:prstGeom>
          <a:ln>
            <a:solidFill>
              <a:srgbClr val="0A0A0A"/>
            </a:solidFill>
          </a:ln>
        </p:spPr>
        <p:txBody>
          <a:bodyPr lIns="45719" rIns="45719"/>
          <a:lstStyle/>
          <a:p>
            <a:endParaRPr/>
          </a:p>
        </p:txBody>
      </p:sp>
      <p:sp>
        <p:nvSpPr>
          <p:cNvPr id="65" name="Shape 5"/>
          <p:cNvSpPr/>
          <p:nvPr/>
        </p:nvSpPr>
        <p:spPr>
          <a:xfrm>
            <a:off x="502920" y="2441448"/>
            <a:ext cx="8138160" cy="1"/>
          </a:xfrm>
          <a:prstGeom prst="line">
            <a:avLst/>
          </a:prstGeom>
          <a:ln>
            <a:solidFill>
              <a:srgbClr val="E6E6E6"/>
            </a:solidFill>
          </a:ln>
        </p:spPr>
        <p:txBody>
          <a:bodyPr lIns="45719" rIns="45719"/>
          <a:lstStyle/>
          <a:p>
            <a:endParaRPr/>
          </a:p>
        </p:txBody>
      </p:sp>
      <p:sp>
        <p:nvSpPr>
          <p:cNvPr id="66" name="Text 6"/>
          <p:cNvSpPr txBox="1"/>
          <p:nvPr/>
        </p:nvSpPr>
        <p:spPr>
          <a:xfrm>
            <a:off x="502919" y="2088133"/>
            <a:ext cx="530353" cy="139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spc="100">
                <a:solidFill>
                  <a:srgbClr val="9A9A9A"/>
                </a:solidFill>
                <a:latin typeface="Consolas"/>
                <a:ea typeface="Consolas"/>
                <a:cs typeface="Consolas"/>
                <a:sym typeface="Consolas"/>
              </a:defRPr>
            </a:lvl1pPr>
          </a:lstStyle>
          <a:p>
            <a:r>
              <a:t>G·01</a:t>
            </a:r>
          </a:p>
        </p:txBody>
      </p:sp>
      <p:sp>
        <p:nvSpPr>
          <p:cNvPr id="67" name="Text 7"/>
          <p:cNvSpPr txBox="1"/>
          <p:nvPr/>
        </p:nvSpPr>
        <p:spPr>
          <a:xfrm>
            <a:off x="1097280" y="2074603"/>
            <a:ext cx="2286001" cy="1667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b="1">
                <a:solidFill>
                  <a:srgbClr val="0A0A0A"/>
                </a:solidFill>
              </a:defRPr>
            </a:lvl1pPr>
          </a:lstStyle>
          <a:p>
            <a:r>
              <a:t>Vision-based interaction</a:t>
            </a:r>
          </a:p>
        </p:txBody>
      </p:sp>
      <p:sp>
        <p:nvSpPr>
          <p:cNvPr id="68" name="Text 8"/>
          <p:cNvSpPr txBox="1"/>
          <p:nvPr/>
        </p:nvSpPr>
        <p:spPr>
          <a:xfrm>
            <a:off x="3520440" y="2079551"/>
            <a:ext cx="5577841"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B6B6B"/>
                </a:solidFill>
              </a:defRPr>
            </a:lvl1pPr>
          </a:lstStyle>
          <a:p>
            <a:r>
              <a:t>Read hand position, finger state, pointing direction, and motion from a live camera feed.</a:t>
            </a:r>
          </a:p>
        </p:txBody>
      </p:sp>
      <p:sp>
        <p:nvSpPr>
          <p:cNvPr id="69" name="Shape 9"/>
          <p:cNvSpPr/>
          <p:nvPr/>
        </p:nvSpPr>
        <p:spPr>
          <a:xfrm>
            <a:off x="502920" y="3008376"/>
            <a:ext cx="8138160" cy="1"/>
          </a:xfrm>
          <a:prstGeom prst="line">
            <a:avLst/>
          </a:prstGeom>
          <a:ln>
            <a:solidFill>
              <a:srgbClr val="E6E6E6"/>
            </a:solidFill>
          </a:ln>
        </p:spPr>
        <p:txBody>
          <a:bodyPr lIns="45719" rIns="45719"/>
          <a:lstStyle/>
          <a:p>
            <a:endParaRPr/>
          </a:p>
        </p:txBody>
      </p:sp>
      <p:sp>
        <p:nvSpPr>
          <p:cNvPr id="70" name="Text 10"/>
          <p:cNvSpPr txBox="1"/>
          <p:nvPr/>
        </p:nvSpPr>
        <p:spPr>
          <a:xfrm>
            <a:off x="502919" y="2655061"/>
            <a:ext cx="530353" cy="139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spc="100">
                <a:solidFill>
                  <a:srgbClr val="9A9A9A"/>
                </a:solidFill>
                <a:latin typeface="Consolas"/>
                <a:ea typeface="Consolas"/>
                <a:cs typeface="Consolas"/>
                <a:sym typeface="Consolas"/>
              </a:defRPr>
            </a:lvl1pPr>
          </a:lstStyle>
          <a:p>
            <a:r>
              <a:t>G·02</a:t>
            </a:r>
          </a:p>
        </p:txBody>
      </p:sp>
      <p:sp>
        <p:nvSpPr>
          <p:cNvPr id="71" name="Text 11"/>
          <p:cNvSpPr txBox="1"/>
          <p:nvPr/>
        </p:nvSpPr>
        <p:spPr>
          <a:xfrm>
            <a:off x="1097280" y="2641531"/>
            <a:ext cx="2286001" cy="1667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b="1">
                <a:solidFill>
                  <a:srgbClr val="0A0A0A"/>
                </a:solidFill>
              </a:defRPr>
            </a:lvl1pPr>
          </a:lstStyle>
          <a:p>
            <a:r>
              <a:t>Remote robotic control</a:t>
            </a:r>
          </a:p>
        </p:txBody>
      </p:sp>
      <p:sp>
        <p:nvSpPr>
          <p:cNvPr id="72" name="Text 12"/>
          <p:cNvSpPr txBox="1"/>
          <p:nvPr/>
        </p:nvSpPr>
        <p:spPr>
          <a:xfrm>
            <a:off x="3520440" y="2646479"/>
            <a:ext cx="5577841"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B6B6B"/>
                </a:solidFill>
              </a:defRPr>
            </a:lvl1pPr>
          </a:lstStyle>
          <a:p>
            <a:r>
              <a:t>Gesture, keyboard, or web-interface commands all trigger the same robot motion layer.</a:t>
            </a:r>
          </a:p>
        </p:txBody>
      </p:sp>
      <p:sp>
        <p:nvSpPr>
          <p:cNvPr id="73" name="Shape 13"/>
          <p:cNvSpPr/>
          <p:nvPr/>
        </p:nvSpPr>
        <p:spPr>
          <a:xfrm>
            <a:off x="502920" y="3575303"/>
            <a:ext cx="8138160" cy="1"/>
          </a:xfrm>
          <a:prstGeom prst="line">
            <a:avLst/>
          </a:prstGeom>
          <a:ln>
            <a:solidFill>
              <a:srgbClr val="E6E6E6"/>
            </a:solidFill>
          </a:ln>
        </p:spPr>
        <p:txBody>
          <a:bodyPr lIns="45719" rIns="45719"/>
          <a:lstStyle/>
          <a:p>
            <a:endParaRPr/>
          </a:p>
        </p:txBody>
      </p:sp>
      <p:sp>
        <p:nvSpPr>
          <p:cNvPr id="74" name="Text 14"/>
          <p:cNvSpPr txBox="1"/>
          <p:nvPr/>
        </p:nvSpPr>
        <p:spPr>
          <a:xfrm>
            <a:off x="502919" y="3221990"/>
            <a:ext cx="530353" cy="139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spc="100">
                <a:solidFill>
                  <a:srgbClr val="9A9A9A"/>
                </a:solidFill>
                <a:latin typeface="Consolas"/>
                <a:ea typeface="Consolas"/>
                <a:cs typeface="Consolas"/>
                <a:sym typeface="Consolas"/>
              </a:defRPr>
            </a:lvl1pPr>
          </a:lstStyle>
          <a:p>
            <a:r>
              <a:t>G·03</a:t>
            </a:r>
          </a:p>
        </p:txBody>
      </p:sp>
      <p:sp>
        <p:nvSpPr>
          <p:cNvPr id="75" name="Text 15"/>
          <p:cNvSpPr txBox="1"/>
          <p:nvPr/>
        </p:nvSpPr>
        <p:spPr>
          <a:xfrm>
            <a:off x="1097280" y="3208459"/>
            <a:ext cx="2286001" cy="1667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b="1">
                <a:solidFill>
                  <a:srgbClr val="0A0A0A"/>
                </a:solidFill>
              </a:defRPr>
            </a:lvl1pPr>
          </a:lstStyle>
          <a:p>
            <a:r>
              <a:t>Physical object interaction</a:t>
            </a:r>
          </a:p>
        </p:txBody>
      </p:sp>
      <p:sp>
        <p:nvSpPr>
          <p:cNvPr id="76" name="Text 16"/>
          <p:cNvSpPr txBox="1"/>
          <p:nvPr/>
        </p:nvSpPr>
        <p:spPr>
          <a:xfrm>
            <a:off x="3520440" y="3213407"/>
            <a:ext cx="5577841"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B6B6B"/>
                </a:solidFill>
              </a:defRPr>
            </a:lvl1pPr>
          </a:lstStyle>
          <a:p>
            <a:r>
              <a:t>Calibrated open, close, reach, hold, release, and reset actions for basic pick-and-place.</a:t>
            </a:r>
          </a:p>
        </p:txBody>
      </p:sp>
      <p:sp>
        <p:nvSpPr>
          <p:cNvPr id="77" name="Shape 17"/>
          <p:cNvSpPr/>
          <p:nvPr/>
        </p:nvSpPr>
        <p:spPr>
          <a:xfrm>
            <a:off x="502920" y="4142232"/>
            <a:ext cx="8138160" cy="1"/>
          </a:xfrm>
          <a:prstGeom prst="line">
            <a:avLst/>
          </a:prstGeom>
          <a:ln>
            <a:solidFill>
              <a:srgbClr val="E6E6E6"/>
            </a:solidFill>
          </a:ln>
        </p:spPr>
        <p:txBody>
          <a:bodyPr lIns="45719" rIns="45719"/>
          <a:lstStyle/>
          <a:p>
            <a:endParaRPr/>
          </a:p>
        </p:txBody>
      </p:sp>
      <p:sp>
        <p:nvSpPr>
          <p:cNvPr id="78" name="Text 18"/>
          <p:cNvSpPr txBox="1"/>
          <p:nvPr/>
        </p:nvSpPr>
        <p:spPr>
          <a:xfrm>
            <a:off x="502919" y="3788917"/>
            <a:ext cx="530353" cy="139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spc="100">
                <a:solidFill>
                  <a:srgbClr val="9A9A9A"/>
                </a:solidFill>
                <a:latin typeface="Consolas"/>
                <a:ea typeface="Consolas"/>
                <a:cs typeface="Consolas"/>
                <a:sym typeface="Consolas"/>
              </a:defRPr>
            </a:lvl1pPr>
          </a:lstStyle>
          <a:p>
            <a:r>
              <a:t>G·04</a:t>
            </a:r>
          </a:p>
        </p:txBody>
      </p:sp>
      <p:sp>
        <p:nvSpPr>
          <p:cNvPr id="79" name="Text 19"/>
          <p:cNvSpPr txBox="1"/>
          <p:nvPr/>
        </p:nvSpPr>
        <p:spPr>
          <a:xfrm>
            <a:off x="1097280" y="3775386"/>
            <a:ext cx="2286001" cy="1667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b="1">
                <a:solidFill>
                  <a:srgbClr val="0A0A0A"/>
                </a:solidFill>
              </a:defRPr>
            </a:lvl1pPr>
          </a:lstStyle>
          <a:p>
            <a:r>
              <a:t>Expressive behavior</a:t>
            </a:r>
          </a:p>
        </p:txBody>
      </p:sp>
      <p:sp>
        <p:nvSpPr>
          <p:cNvPr id="80" name="Text 20"/>
          <p:cNvSpPr txBox="1"/>
          <p:nvPr/>
        </p:nvSpPr>
        <p:spPr>
          <a:xfrm>
            <a:off x="3520440" y="3685085"/>
            <a:ext cx="5577841" cy="3473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B6B6B"/>
                </a:solidFill>
              </a:defRPr>
            </a:lvl1pPr>
          </a:lstStyle>
          <a:p>
            <a:r>
              <a:t>Short greeting, acknowledgment, pointing, and response sequences to make the demo memorable.</a:t>
            </a:r>
          </a:p>
        </p:txBody>
      </p:sp>
      <p:sp>
        <p:nvSpPr>
          <p:cNvPr id="81" name="Shape 21"/>
          <p:cNvSpPr/>
          <p:nvPr/>
        </p:nvSpPr>
        <p:spPr>
          <a:xfrm>
            <a:off x="502920" y="4709159"/>
            <a:ext cx="8138160" cy="1"/>
          </a:xfrm>
          <a:prstGeom prst="line">
            <a:avLst/>
          </a:prstGeom>
          <a:ln>
            <a:solidFill>
              <a:srgbClr val="E6E6E6"/>
            </a:solidFill>
          </a:ln>
        </p:spPr>
        <p:txBody>
          <a:bodyPr lIns="45719" rIns="45719"/>
          <a:lstStyle/>
          <a:p>
            <a:endParaRPr/>
          </a:p>
        </p:txBody>
      </p:sp>
      <p:sp>
        <p:nvSpPr>
          <p:cNvPr id="82" name="Text 22"/>
          <p:cNvSpPr txBox="1"/>
          <p:nvPr/>
        </p:nvSpPr>
        <p:spPr>
          <a:xfrm>
            <a:off x="502919" y="4355846"/>
            <a:ext cx="530353" cy="139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spc="100">
                <a:solidFill>
                  <a:srgbClr val="9A9A9A"/>
                </a:solidFill>
                <a:latin typeface="Consolas"/>
                <a:ea typeface="Consolas"/>
                <a:cs typeface="Consolas"/>
                <a:sym typeface="Consolas"/>
              </a:defRPr>
            </a:lvl1pPr>
          </a:lstStyle>
          <a:p>
            <a:r>
              <a:t>G·05</a:t>
            </a:r>
          </a:p>
        </p:txBody>
      </p:sp>
      <p:sp>
        <p:nvSpPr>
          <p:cNvPr id="83" name="Text 23"/>
          <p:cNvSpPr txBox="1"/>
          <p:nvPr/>
        </p:nvSpPr>
        <p:spPr>
          <a:xfrm>
            <a:off x="1097280" y="4342315"/>
            <a:ext cx="2286001" cy="1667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b="1">
                <a:solidFill>
                  <a:srgbClr val="0A0A0A"/>
                </a:solidFill>
              </a:defRPr>
            </a:lvl1pPr>
          </a:lstStyle>
          <a:p>
            <a:r>
              <a:t>Safe fallback</a:t>
            </a:r>
          </a:p>
        </p:txBody>
      </p:sp>
      <p:sp>
        <p:nvSpPr>
          <p:cNvPr id="84" name="Text 24"/>
          <p:cNvSpPr txBox="1"/>
          <p:nvPr/>
        </p:nvSpPr>
        <p:spPr>
          <a:xfrm>
            <a:off x="3520440" y="4252013"/>
            <a:ext cx="5577841" cy="3473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B6B6B"/>
                </a:solidFill>
              </a:defRPr>
            </a:lvl1pPr>
          </a:lstStyle>
          <a:p>
            <a:r>
              <a:t>When input is unclear: pause, return to neutral, or switch to manual rather than send unsafe motion.</a:t>
            </a:r>
          </a:p>
        </p:txBody>
      </p:sp>
      <p:sp>
        <p:nvSpPr>
          <p:cNvPr id="85" name="Shape 25"/>
          <p:cNvSpPr/>
          <p:nvPr/>
        </p:nvSpPr>
        <p:spPr>
          <a:xfrm>
            <a:off x="502919" y="4882896"/>
            <a:ext cx="73153" cy="73153"/>
          </a:xfrm>
          <a:prstGeom prst="rect">
            <a:avLst/>
          </a:prstGeom>
          <a:solidFill>
            <a:srgbClr val="0A0A0A"/>
          </a:solidFill>
          <a:ln w="12700">
            <a:solidFill>
              <a:srgbClr val="0A0A0A"/>
            </a:solidFill>
          </a:ln>
        </p:spPr>
        <p:txBody>
          <a:bodyPr lIns="45719" rIns="45719"/>
          <a:lstStyle/>
          <a:p>
            <a:endParaRPr/>
          </a:p>
        </p:txBody>
      </p:sp>
      <p:sp>
        <p:nvSpPr>
          <p:cNvPr id="86" name="Text 26"/>
          <p:cNvSpPr txBox="1"/>
          <p:nvPr/>
        </p:nvSpPr>
        <p:spPr>
          <a:xfrm>
            <a:off x="658368" y="4883404"/>
            <a:ext cx="27432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spc="150">
                <a:solidFill>
                  <a:srgbClr val="9A9A9A"/>
                </a:solidFill>
                <a:latin typeface="Consolas"/>
                <a:ea typeface="Consolas"/>
                <a:cs typeface="Consolas"/>
                <a:sym typeface="Consolas"/>
              </a:defRPr>
            </a:lvl1pPr>
          </a:lstStyle>
          <a:p>
            <a:r>
              <a:t>Vision-Guided Robotic Arm</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 0"/>
          <p:cNvSpPr txBox="1"/>
          <p:nvPr/>
        </p:nvSpPr>
        <p:spPr>
          <a:xfrm>
            <a:off x="502919" y="398272"/>
            <a:ext cx="6347767"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180">
                <a:solidFill>
                  <a:srgbClr val="6B6B6B"/>
                </a:solidFill>
                <a:latin typeface="Consolas"/>
                <a:ea typeface="Consolas"/>
                <a:cs typeface="Consolas"/>
                <a:sym typeface="Consolas"/>
              </a:defRPr>
            </a:lvl1pPr>
          </a:lstStyle>
          <a:p>
            <a:r>
              <a:t>■  04  /  TECHNICAL FRAMEWORK</a:t>
            </a:r>
          </a:p>
        </p:txBody>
      </p:sp>
      <p:sp>
        <p:nvSpPr>
          <p:cNvPr id="89" name="Text 1"/>
          <p:cNvSpPr txBox="1"/>
          <p:nvPr/>
        </p:nvSpPr>
        <p:spPr>
          <a:xfrm>
            <a:off x="502920" y="398272"/>
            <a:ext cx="813816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800" spc="100">
                <a:solidFill>
                  <a:srgbClr val="9A9A9A"/>
                </a:solidFill>
                <a:latin typeface="Consolas"/>
                <a:ea typeface="Consolas"/>
                <a:cs typeface="Consolas"/>
                <a:sym typeface="Consolas"/>
              </a:defRPr>
            </a:lvl1pPr>
          </a:lstStyle>
          <a:p>
            <a:r>
              <a:t>05 / 12</a:t>
            </a:r>
          </a:p>
        </p:txBody>
      </p:sp>
      <p:sp>
        <p:nvSpPr>
          <p:cNvPr id="90" name="Shape 2"/>
          <p:cNvSpPr/>
          <p:nvPr/>
        </p:nvSpPr>
        <p:spPr>
          <a:xfrm>
            <a:off x="502920" y="704087"/>
            <a:ext cx="8138160" cy="1"/>
          </a:xfrm>
          <a:prstGeom prst="line">
            <a:avLst/>
          </a:prstGeom>
          <a:ln>
            <a:solidFill>
              <a:srgbClr val="E6E6E6"/>
            </a:solidFill>
          </a:ln>
        </p:spPr>
        <p:txBody>
          <a:bodyPr lIns="45719" rIns="45719"/>
          <a:lstStyle/>
          <a:p>
            <a:endParaRPr/>
          </a:p>
        </p:txBody>
      </p:sp>
      <p:sp>
        <p:nvSpPr>
          <p:cNvPr id="91" name="Text 3"/>
          <p:cNvSpPr txBox="1"/>
          <p:nvPr/>
        </p:nvSpPr>
        <p:spPr>
          <a:xfrm>
            <a:off x="502920" y="880685"/>
            <a:ext cx="8138160" cy="4331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2800">
                <a:solidFill>
                  <a:srgbClr val="0A0A0A"/>
                </a:solidFill>
              </a:defRPr>
            </a:pPr>
            <a:r>
              <a:t>A four-stage pipeline from </a:t>
            </a:r>
            <a:r>
              <a:rPr>
                <a:solidFill>
                  <a:srgbClr val="2E7D52"/>
                </a:solidFill>
                <a:latin typeface="Consolas"/>
                <a:ea typeface="Consolas"/>
                <a:cs typeface="Consolas"/>
                <a:sym typeface="Consolas"/>
              </a:rPr>
              <a:t>pixels to motion</a:t>
            </a:r>
            <a:r>
              <a:t>.</a:t>
            </a:r>
          </a:p>
        </p:txBody>
      </p:sp>
      <p:sp>
        <p:nvSpPr>
          <p:cNvPr id="92" name="Text 4"/>
          <p:cNvSpPr txBox="1"/>
          <p:nvPr/>
        </p:nvSpPr>
        <p:spPr>
          <a:xfrm>
            <a:off x="502920" y="1399085"/>
            <a:ext cx="8138160" cy="3473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B6B6B"/>
                </a:solidFill>
              </a:defRPr>
            </a:lvl1pPr>
          </a:lstStyle>
          <a:p>
            <a:r>
              <a:t>Each stage has a narrow contract with the next. That keeps the system debuggable and lets us swap perception, intent, or actuation independently.</a:t>
            </a:r>
          </a:p>
        </p:txBody>
      </p:sp>
      <p:sp>
        <p:nvSpPr>
          <p:cNvPr id="93" name="Shape 5"/>
          <p:cNvSpPr/>
          <p:nvPr/>
        </p:nvSpPr>
        <p:spPr>
          <a:xfrm>
            <a:off x="502919" y="1847088"/>
            <a:ext cx="1920241" cy="2487168"/>
          </a:xfrm>
          <a:prstGeom prst="rect">
            <a:avLst/>
          </a:prstGeom>
          <a:solidFill>
            <a:srgbClr val="FFFFFF"/>
          </a:solidFill>
          <a:ln w="12700">
            <a:solidFill>
              <a:srgbClr val="E6E6E6"/>
            </a:solidFill>
          </a:ln>
        </p:spPr>
        <p:txBody>
          <a:bodyPr lIns="45719" rIns="45719"/>
          <a:lstStyle/>
          <a:p>
            <a:endParaRPr/>
          </a:p>
        </p:txBody>
      </p:sp>
      <p:sp>
        <p:nvSpPr>
          <p:cNvPr id="94" name="Text 6"/>
          <p:cNvSpPr txBox="1"/>
          <p:nvPr/>
        </p:nvSpPr>
        <p:spPr>
          <a:xfrm>
            <a:off x="667512" y="2067051"/>
            <a:ext cx="1591057"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200">
                <a:solidFill>
                  <a:srgbClr val="9A9A9A"/>
                </a:solidFill>
                <a:latin typeface="Consolas"/>
                <a:ea typeface="Consolas"/>
                <a:cs typeface="Consolas"/>
                <a:sym typeface="Consolas"/>
              </a:defRPr>
            </a:lvl1pPr>
          </a:lstStyle>
          <a:p>
            <a:r>
              <a:t>STAGE  01</a:t>
            </a:r>
          </a:p>
        </p:txBody>
      </p:sp>
      <p:sp>
        <p:nvSpPr>
          <p:cNvPr id="95" name="Text 7"/>
          <p:cNvSpPr txBox="1"/>
          <p:nvPr/>
        </p:nvSpPr>
        <p:spPr>
          <a:xfrm>
            <a:off x="667512" y="2356701"/>
            <a:ext cx="1591057" cy="5535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2000" b="1">
                <a:solidFill>
                  <a:srgbClr val="0A0A0A"/>
                </a:solidFill>
              </a:defRPr>
            </a:pPr>
            <a:r>
              <a:t>Camera</a:t>
            </a:r>
          </a:p>
          <a:p>
            <a:pPr>
              <a:defRPr sz="2000" b="1">
                <a:solidFill>
                  <a:srgbClr val="0A0A0A"/>
                </a:solidFill>
              </a:defRPr>
            </a:pPr>
            <a:r>
              <a:t>Input</a:t>
            </a:r>
          </a:p>
        </p:txBody>
      </p:sp>
      <p:sp>
        <p:nvSpPr>
          <p:cNvPr id="96" name="Text 8"/>
          <p:cNvSpPr txBox="1"/>
          <p:nvPr/>
        </p:nvSpPr>
        <p:spPr>
          <a:xfrm>
            <a:off x="667512" y="3035807"/>
            <a:ext cx="1591057" cy="7946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100">
                <a:solidFill>
                  <a:srgbClr val="6B6B6B"/>
                </a:solidFill>
              </a:defRPr>
            </a:lvl1pPr>
          </a:lstStyle>
          <a:p>
            <a:r>
              <a:t>External webcam during development. Pi camera for compact build. Final choice based on FOV, lighting, and mounting.</a:t>
            </a:r>
          </a:p>
        </p:txBody>
      </p:sp>
      <p:sp>
        <p:nvSpPr>
          <p:cNvPr id="97" name="Shape 9"/>
          <p:cNvSpPr/>
          <p:nvPr/>
        </p:nvSpPr>
        <p:spPr>
          <a:xfrm>
            <a:off x="2441448" y="3090672"/>
            <a:ext cx="114301" cy="1"/>
          </a:xfrm>
          <a:prstGeom prst="line">
            <a:avLst/>
          </a:prstGeom>
          <a:ln w="12700">
            <a:solidFill>
              <a:srgbClr val="9A9A9A"/>
            </a:solidFill>
          </a:ln>
        </p:spPr>
        <p:txBody>
          <a:bodyPr lIns="45719" rIns="45719"/>
          <a:lstStyle/>
          <a:p>
            <a:endParaRPr/>
          </a:p>
        </p:txBody>
      </p:sp>
      <p:sp>
        <p:nvSpPr>
          <p:cNvPr id="98" name="Shape 10"/>
          <p:cNvSpPr/>
          <p:nvPr/>
        </p:nvSpPr>
        <p:spPr>
          <a:xfrm>
            <a:off x="2574035" y="1847088"/>
            <a:ext cx="1920241" cy="2487168"/>
          </a:xfrm>
          <a:prstGeom prst="rect">
            <a:avLst/>
          </a:prstGeom>
          <a:solidFill>
            <a:srgbClr val="FFFFFF"/>
          </a:solidFill>
          <a:ln w="12700">
            <a:solidFill>
              <a:srgbClr val="E6E6E6"/>
            </a:solidFill>
          </a:ln>
        </p:spPr>
        <p:txBody>
          <a:bodyPr lIns="45719" rIns="45719"/>
          <a:lstStyle/>
          <a:p>
            <a:endParaRPr/>
          </a:p>
        </p:txBody>
      </p:sp>
      <p:sp>
        <p:nvSpPr>
          <p:cNvPr id="99" name="Text 11"/>
          <p:cNvSpPr txBox="1"/>
          <p:nvPr/>
        </p:nvSpPr>
        <p:spPr>
          <a:xfrm>
            <a:off x="2738627" y="2067051"/>
            <a:ext cx="1591057"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200">
                <a:solidFill>
                  <a:srgbClr val="9A9A9A"/>
                </a:solidFill>
                <a:latin typeface="Consolas"/>
                <a:ea typeface="Consolas"/>
                <a:cs typeface="Consolas"/>
                <a:sym typeface="Consolas"/>
              </a:defRPr>
            </a:lvl1pPr>
          </a:lstStyle>
          <a:p>
            <a:r>
              <a:t>STAGE  02</a:t>
            </a:r>
          </a:p>
        </p:txBody>
      </p:sp>
      <p:sp>
        <p:nvSpPr>
          <p:cNvPr id="100" name="Text 12"/>
          <p:cNvSpPr txBox="1"/>
          <p:nvPr/>
        </p:nvSpPr>
        <p:spPr>
          <a:xfrm>
            <a:off x="2738627" y="2509101"/>
            <a:ext cx="1591057" cy="2487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000" b="1">
                <a:solidFill>
                  <a:srgbClr val="0A0A0A"/>
                </a:solidFill>
              </a:defRPr>
            </a:lvl1pPr>
          </a:lstStyle>
          <a:p>
            <a:r>
              <a:t>Perception</a:t>
            </a:r>
          </a:p>
        </p:txBody>
      </p:sp>
      <p:sp>
        <p:nvSpPr>
          <p:cNvPr id="101" name="Text 13"/>
          <p:cNvSpPr txBox="1"/>
          <p:nvPr/>
        </p:nvSpPr>
        <p:spPr>
          <a:xfrm>
            <a:off x="2738627" y="3035807"/>
            <a:ext cx="1591057" cy="7946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100">
                <a:solidFill>
                  <a:srgbClr val="6B6B6B"/>
                </a:solidFill>
              </a:defRPr>
            </a:lvl1pPr>
          </a:lstStyle>
          <a:p>
            <a:r>
              <a:t>OpenCV + MediaPipe Hands. Outputs palm center, landmarks, per-finger open/closed, motion direction.</a:t>
            </a:r>
          </a:p>
        </p:txBody>
      </p:sp>
      <p:sp>
        <p:nvSpPr>
          <p:cNvPr id="102" name="Shape 14"/>
          <p:cNvSpPr/>
          <p:nvPr/>
        </p:nvSpPr>
        <p:spPr>
          <a:xfrm>
            <a:off x="4512564" y="3090672"/>
            <a:ext cx="114301" cy="1"/>
          </a:xfrm>
          <a:prstGeom prst="line">
            <a:avLst/>
          </a:prstGeom>
          <a:ln w="12700">
            <a:solidFill>
              <a:srgbClr val="9A9A9A"/>
            </a:solidFill>
          </a:ln>
        </p:spPr>
        <p:txBody>
          <a:bodyPr lIns="45719" rIns="45719"/>
          <a:lstStyle/>
          <a:p>
            <a:endParaRPr/>
          </a:p>
        </p:txBody>
      </p:sp>
      <p:sp>
        <p:nvSpPr>
          <p:cNvPr id="103" name="Shape 15"/>
          <p:cNvSpPr/>
          <p:nvPr/>
        </p:nvSpPr>
        <p:spPr>
          <a:xfrm>
            <a:off x="4645152" y="1847088"/>
            <a:ext cx="1920241" cy="2487168"/>
          </a:xfrm>
          <a:prstGeom prst="rect">
            <a:avLst/>
          </a:prstGeom>
          <a:solidFill>
            <a:srgbClr val="FFFFFF"/>
          </a:solidFill>
          <a:ln w="12700">
            <a:solidFill>
              <a:srgbClr val="E6E6E6"/>
            </a:solidFill>
          </a:ln>
        </p:spPr>
        <p:txBody>
          <a:bodyPr lIns="45719" rIns="45719"/>
          <a:lstStyle/>
          <a:p>
            <a:endParaRPr/>
          </a:p>
        </p:txBody>
      </p:sp>
      <p:sp>
        <p:nvSpPr>
          <p:cNvPr id="104" name="Text 16"/>
          <p:cNvSpPr txBox="1"/>
          <p:nvPr/>
        </p:nvSpPr>
        <p:spPr>
          <a:xfrm>
            <a:off x="4809744" y="2067051"/>
            <a:ext cx="1591056"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200">
                <a:solidFill>
                  <a:srgbClr val="9A9A9A"/>
                </a:solidFill>
                <a:latin typeface="Consolas"/>
                <a:ea typeface="Consolas"/>
                <a:cs typeface="Consolas"/>
                <a:sym typeface="Consolas"/>
              </a:defRPr>
            </a:lvl1pPr>
          </a:lstStyle>
          <a:p>
            <a:r>
              <a:t>STAGE  03</a:t>
            </a:r>
          </a:p>
        </p:txBody>
      </p:sp>
      <p:sp>
        <p:nvSpPr>
          <p:cNvPr id="105" name="Text 17"/>
          <p:cNvSpPr txBox="1"/>
          <p:nvPr/>
        </p:nvSpPr>
        <p:spPr>
          <a:xfrm>
            <a:off x="4809744" y="2356701"/>
            <a:ext cx="1591056" cy="5535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2000" b="1">
                <a:solidFill>
                  <a:srgbClr val="0A0A0A"/>
                </a:solidFill>
              </a:defRPr>
            </a:pPr>
            <a:r>
              <a:t>Intent &amp;</a:t>
            </a:r>
          </a:p>
          <a:p>
            <a:pPr>
              <a:defRPr sz="2000" b="1">
                <a:solidFill>
                  <a:srgbClr val="0A0A0A"/>
                </a:solidFill>
              </a:defRPr>
            </a:pPr>
            <a:r>
              <a:t>Control</a:t>
            </a:r>
          </a:p>
        </p:txBody>
      </p:sp>
      <p:sp>
        <p:nvSpPr>
          <p:cNvPr id="106" name="Text 18"/>
          <p:cNvSpPr txBox="1"/>
          <p:nvPr/>
        </p:nvSpPr>
        <p:spPr>
          <a:xfrm>
            <a:off x="4809744" y="3035807"/>
            <a:ext cx="1591056" cy="6295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100">
                <a:solidFill>
                  <a:srgbClr val="6B6B6B"/>
                </a:solidFill>
              </a:defRPr>
            </a:lvl1pPr>
          </a:lstStyle>
          <a:p>
            <a:r>
              <a:t>Finite-state controller picks intent: follow, grasp, point, greet, respond. Stable across frames before firing.</a:t>
            </a:r>
          </a:p>
        </p:txBody>
      </p:sp>
      <p:sp>
        <p:nvSpPr>
          <p:cNvPr id="107" name="Shape 19"/>
          <p:cNvSpPr/>
          <p:nvPr/>
        </p:nvSpPr>
        <p:spPr>
          <a:xfrm>
            <a:off x="6583680" y="3090672"/>
            <a:ext cx="114301" cy="1"/>
          </a:xfrm>
          <a:prstGeom prst="line">
            <a:avLst/>
          </a:prstGeom>
          <a:ln w="12700">
            <a:solidFill>
              <a:srgbClr val="9A9A9A"/>
            </a:solidFill>
          </a:ln>
        </p:spPr>
        <p:txBody>
          <a:bodyPr lIns="45719" rIns="45719"/>
          <a:lstStyle/>
          <a:p>
            <a:endParaRPr/>
          </a:p>
        </p:txBody>
      </p:sp>
      <p:sp>
        <p:nvSpPr>
          <p:cNvPr id="108" name="Shape 20"/>
          <p:cNvSpPr/>
          <p:nvPr/>
        </p:nvSpPr>
        <p:spPr>
          <a:xfrm>
            <a:off x="6716268" y="1847088"/>
            <a:ext cx="1920241" cy="2487168"/>
          </a:xfrm>
          <a:prstGeom prst="rect">
            <a:avLst/>
          </a:prstGeom>
          <a:solidFill>
            <a:srgbClr val="FFFFFF"/>
          </a:solidFill>
          <a:ln w="12700">
            <a:solidFill>
              <a:srgbClr val="E6E6E6"/>
            </a:solidFill>
          </a:ln>
        </p:spPr>
        <p:txBody>
          <a:bodyPr lIns="45719" rIns="45719"/>
          <a:lstStyle/>
          <a:p>
            <a:endParaRPr/>
          </a:p>
        </p:txBody>
      </p:sp>
      <p:sp>
        <p:nvSpPr>
          <p:cNvPr id="109" name="Text 21"/>
          <p:cNvSpPr txBox="1"/>
          <p:nvPr/>
        </p:nvSpPr>
        <p:spPr>
          <a:xfrm>
            <a:off x="6880859" y="2067051"/>
            <a:ext cx="1591057"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200">
                <a:solidFill>
                  <a:srgbClr val="9A9A9A"/>
                </a:solidFill>
                <a:latin typeface="Consolas"/>
                <a:ea typeface="Consolas"/>
                <a:cs typeface="Consolas"/>
                <a:sym typeface="Consolas"/>
              </a:defRPr>
            </a:lvl1pPr>
          </a:lstStyle>
          <a:p>
            <a:r>
              <a:t>STAGE  04</a:t>
            </a:r>
          </a:p>
        </p:txBody>
      </p:sp>
      <p:sp>
        <p:nvSpPr>
          <p:cNvPr id="110" name="Text 22"/>
          <p:cNvSpPr txBox="1"/>
          <p:nvPr/>
        </p:nvSpPr>
        <p:spPr>
          <a:xfrm>
            <a:off x="6880859" y="2509101"/>
            <a:ext cx="1591057" cy="2487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000" b="1">
                <a:solidFill>
                  <a:srgbClr val="0A0A0A"/>
                </a:solidFill>
              </a:defRPr>
            </a:lvl1pPr>
          </a:lstStyle>
          <a:p>
            <a:r>
              <a:t>Actuation</a:t>
            </a:r>
          </a:p>
        </p:txBody>
      </p:sp>
      <p:sp>
        <p:nvSpPr>
          <p:cNvPr id="111" name="Text 23"/>
          <p:cNvSpPr txBox="1"/>
          <p:nvPr/>
        </p:nvSpPr>
        <p:spPr>
          <a:xfrm>
            <a:off x="6880859" y="3035807"/>
            <a:ext cx="1591057" cy="7946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100">
                <a:solidFill>
                  <a:srgbClr val="6B6B6B"/>
                </a:solidFill>
              </a:defRPr>
            </a:lvl1pPr>
          </a:lstStyle>
          <a:p>
            <a:r>
              <a:t>LEGO SPIKE arm with calibrated poses. Composes neutral, open, closed, point, reach, reset into behaviors.</a:t>
            </a:r>
          </a:p>
        </p:txBody>
      </p:sp>
      <p:sp>
        <p:nvSpPr>
          <p:cNvPr id="112" name="Shape 24"/>
          <p:cNvSpPr/>
          <p:nvPr/>
        </p:nvSpPr>
        <p:spPr>
          <a:xfrm>
            <a:off x="502919" y="4882896"/>
            <a:ext cx="73153" cy="73153"/>
          </a:xfrm>
          <a:prstGeom prst="rect">
            <a:avLst/>
          </a:prstGeom>
          <a:solidFill>
            <a:srgbClr val="0A0A0A"/>
          </a:solidFill>
          <a:ln w="12700">
            <a:solidFill>
              <a:srgbClr val="0A0A0A"/>
            </a:solidFill>
          </a:ln>
        </p:spPr>
        <p:txBody>
          <a:bodyPr lIns="45719" rIns="45719"/>
          <a:lstStyle/>
          <a:p>
            <a:endParaRPr/>
          </a:p>
        </p:txBody>
      </p:sp>
      <p:sp>
        <p:nvSpPr>
          <p:cNvPr id="113" name="Text 25"/>
          <p:cNvSpPr txBox="1"/>
          <p:nvPr/>
        </p:nvSpPr>
        <p:spPr>
          <a:xfrm>
            <a:off x="658368" y="4883404"/>
            <a:ext cx="27432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spc="150">
                <a:solidFill>
                  <a:srgbClr val="9A9A9A"/>
                </a:solidFill>
                <a:latin typeface="Consolas"/>
                <a:ea typeface="Consolas"/>
                <a:cs typeface="Consolas"/>
                <a:sym typeface="Consolas"/>
              </a:defRPr>
            </a:lvl1pPr>
          </a:lstStyle>
          <a:p>
            <a:r>
              <a:t>Vision-Guided Robotic Arm</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Text 0"/>
          <p:cNvSpPr txBox="1"/>
          <p:nvPr/>
        </p:nvSpPr>
        <p:spPr>
          <a:xfrm>
            <a:off x="502919" y="398272"/>
            <a:ext cx="6347767"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180">
                <a:solidFill>
                  <a:srgbClr val="6B6B6B"/>
                </a:solidFill>
                <a:latin typeface="Consolas"/>
                <a:ea typeface="Consolas"/>
                <a:cs typeface="Consolas"/>
                <a:sym typeface="Consolas"/>
              </a:defRPr>
            </a:lvl1pPr>
          </a:lstStyle>
          <a:p>
            <a:r>
              <a:rPr dirty="0"/>
              <a:t>■  05  /  </a:t>
            </a:r>
            <a:r>
              <a:rPr lang="en-US" dirty="0" smtClean="0"/>
              <a:t>OUR ROBOT ARM SO FAR</a:t>
            </a:r>
            <a:endParaRPr dirty="0"/>
          </a:p>
        </p:txBody>
      </p:sp>
      <p:sp>
        <p:nvSpPr>
          <p:cNvPr id="132" name="Text 1"/>
          <p:cNvSpPr txBox="1"/>
          <p:nvPr/>
        </p:nvSpPr>
        <p:spPr>
          <a:xfrm>
            <a:off x="502920" y="398272"/>
            <a:ext cx="813816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800" spc="100">
                <a:solidFill>
                  <a:srgbClr val="9A9A9A"/>
                </a:solidFill>
                <a:latin typeface="Consolas"/>
                <a:ea typeface="Consolas"/>
                <a:cs typeface="Consolas"/>
                <a:sym typeface="Consolas"/>
              </a:defRPr>
            </a:lvl1pPr>
          </a:lstStyle>
          <a:p>
            <a:r>
              <a:t>07 / 12</a:t>
            </a:r>
          </a:p>
        </p:txBody>
      </p:sp>
      <p:sp>
        <p:nvSpPr>
          <p:cNvPr id="133" name="Shape 2"/>
          <p:cNvSpPr/>
          <p:nvPr/>
        </p:nvSpPr>
        <p:spPr>
          <a:xfrm>
            <a:off x="502920" y="704087"/>
            <a:ext cx="8138160" cy="1"/>
          </a:xfrm>
          <a:prstGeom prst="line">
            <a:avLst/>
          </a:prstGeom>
          <a:ln>
            <a:solidFill>
              <a:srgbClr val="E6E6E6"/>
            </a:solidFill>
          </a:ln>
        </p:spPr>
        <p:txBody>
          <a:bodyPr lIns="45719" rIns="45719"/>
          <a:lstStyle/>
          <a:p>
            <a:endParaRPr/>
          </a:p>
        </p:txBody>
      </p:sp>
      <p:sp>
        <p:nvSpPr>
          <p:cNvPr id="134" name="Shape 3"/>
          <p:cNvSpPr/>
          <p:nvPr/>
        </p:nvSpPr>
        <p:spPr>
          <a:xfrm>
            <a:off x="502919" y="822960"/>
            <a:ext cx="1389890" cy="246889"/>
          </a:xfrm>
          <a:prstGeom prst="roundRect">
            <a:avLst>
              <a:gd name="adj" fmla="val 48148"/>
            </a:avLst>
          </a:prstGeom>
          <a:solidFill>
            <a:srgbClr val="FFFFFF"/>
          </a:solidFill>
          <a:ln w="12700">
            <a:solidFill>
              <a:srgbClr val="E6E6E6"/>
            </a:solidFill>
          </a:ln>
        </p:spPr>
        <p:txBody>
          <a:bodyPr lIns="45719" rIns="45719"/>
          <a:lstStyle/>
          <a:p>
            <a:endParaRPr/>
          </a:p>
        </p:txBody>
      </p:sp>
      <p:sp>
        <p:nvSpPr>
          <p:cNvPr id="135" name="Text 4"/>
          <p:cNvSpPr txBox="1"/>
          <p:nvPr/>
        </p:nvSpPr>
        <p:spPr>
          <a:xfrm>
            <a:off x="502919" y="882904"/>
            <a:ext cx="138989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lgn="ctr">
              <a:defRPr sz="700" spc="150">
                <a:solidFill>
                  <a:srgbClr val="2E7D52"/>
                </a:solidFill>
                <a:latin typeface="Consolas"/>
                <a:ea typeface="Consolas"/>
                <a:cs typeface="Consolas"/>
                <a:sym typeface="Consolas"/>
              </a:defRPr>
            </a:pPr>
            <a:r>
              <a:t>●  </a:t>
            </a:r>
            <a:r>
              <a:rPr>
                <a:solidFill>
                  <a:srgbClr val="6B6B6B"/>
                </a:solidFill>
              </a:rPr>
              <a:t>STAGE 02 OF 04</a:t>
            </a:r>
          </a:p>
        </p:txBody>
      </p:sp>
      <p:sp>
        <p:nvSpPr>
          <p:cNvPr id="150" name="Text 64"/>
          <p:cNvSpPr txBox="1"/>
          <p:nvPr/>
        </p:nvSpPr>
        <p:spPr>
          <a:xfrm>
            <a:off x="3218688" y="4892548"/>
            <a:ext cx="537667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800" spc="100">
                <a:solidFill>
                  <a:srgbClr val="9A9A9A"/>
                </a:solidFill>
                <a:latin typeface="Consolas"/>
                <a:ea typeface="Consolas"/>
                <a:cs typeface="Consolas"/>
                <a:sym typeface="Consolas"/>
              </a:defRPr>
            </a:lvl1pPr>
          </a:lstStyle>
          <a:p>
            <a:r>
              <a:t>21 landmarks  —  MediaPipe Hands output</a:t>
            </a:r>
          </a:p>
        </p:txBody>
      </p:sp>
      <p:sp>
        <p:nvSpPr>
          <p:cNvPr id="151" name="Shape 65"/>
          <p:cNvSpPr/>
          <p:nvPr/>
        </p:nvSpPr>
        <p:spPr>
          <a:xfrm>
            <a:off x="502919" y="4882896"/>
            <a:ext cx="73153" cy="73153"/>
          </a:xfrm>
          <a:prstGeom prst="rect">
            <a:avLst/>
          </a:prstGeom>
          <a:solidFill>
            <a:srgbClr val="0A0A0A"/>
          </a:solidFill>
          <a:ln w="12700">
            <a:solidFill>
              <a:srgbClr val="0A0A0A"/>
            </a:solidFill>
          </a:ln>
        </p:spPr>
        <p:txBody>
          <a:bodyPr lIns="45719" rIns="45719"/>
          <a:lstStyle/>
          <a:p>
            <a:endParaRPr/>
          </a:p>
        </p:txBody>
      </p:sp>
      <p:sp>
        <p:nvSpPr>
          <p:cNvPr id="152" name="Text 66"/>
          <p:cNvSpPr txBox="1"/>
          <p:nvPr/>
        </p:nvSpPr>
        <p:spPr>
          <a:xfrm>
            <a:off x="658368" y="4883404"/>
            <a:ext cx="27432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spc="150">
                <a:solidFill>
                  <a:srgbClr val="9A9A9A"/>
                </a:solidFill>
                <a:latin typeface="Consolas"/>
                <a:ea typeface="Consolas"/>
                <a:cs typeface="Consolas"/>
                <a:sym typeface="Consolas"/>
              </a:defRPr>
            </a:lvl1pPr>
          </a:lstStyle>
          <a:p>
            <a:r>
              <a:t>Vision-Guided Robotic Arm</a:t>
            </a:r>
          </a:p>
        </p:txBody>
      </p:sp>
      <p:pic>
        <p:nvPicPr>
          <p:cNvPr id="154" name="pasted-movie.png" descr="pasted-movie.png"/>
          <p:cNvPicPr>
            <a:picLocks noChangeAspect="1"/>
          </p:cNvPicPr>
          <p:nvPr/>
        </p:nvPicPr>
        <p:blipFill>
          <a:blip r:embed="rId2">
            <a:extLst/>
          </a:blip>
          <a:stretch>
            <a:fillRect/>
          </a:stretch>
        </p:blipFill>
        <p:spPr>
          <a:xfrm>
            <a:off x="285317" y="1446522"/>
            <a:ext cx="2964663" cy="2334831"/>
          </a:xfrm>
          <a:prstGeom prst="rect">
            <a:avLst/>
          </a:prstGeom>
          <a:ln w="12700">
            <a:miter lim="400000"/>
          </a:ln>
        </p:spPr>
      </p:pic>
      <p:pic>
        <p:nvPicPr>
          <p:cNvPr id="3" name="Picture 2"/>
          <p:cNvPicPr>
            <a:picLocks noChangeAspect="1"/>
          </p:cNvPicPr>
          <p:nvPr/>
        </p:nvPicPr>
        <p:blipFill>
          <a:blip r:embed="rId3"/>
          <a:stretch>
            <a:fillRect/>
          </a:stretch>
        </p:blipFill>
        <p:spPr>
          <a:xfrm>
            <a:off x="3358015" y="946404"/>
            <a:ext cx="2427970" cy="2900812"/>
          </a:xfrm>
          <a:prstGeom prst="rect">
            <a:avLst/>
          </a:prstGeom>
        </p:spPr>
      </p:pic>
      <p:pic>
        <p:nvPicPr>
          <p:cNvPr id="4" name="Picture 3"/>
          <p:cNvPicPr>
            <a:picLocks noChangeAspect="1"/>
          </p:cNvPicPr>
          <p:nvPr/>
        </p:nvPicPr>
        <p:blipFill>
          <a:blip r:embed="rId4"/>
          <a:stretch>
            <a:fillRect/>
          </a:stretch>
        </p:blipFill>
        <p:spPr>
          <a:xfrm>
            <a:off x="6007854" y="1381914"/>
            <a:ext cx="2762326" cy="2465302"/>
          </a:xfrm>
          <a:prstGeom prst="rect">
            <a:avLst/>
          </a:prstGeom>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Text 0"/>
          <p:cNvSpPr txBox="1"/>
          <p:nvPr/>
        </p:nvSpPr>
        <p:spPr>
          <a:xfrm>
            <a:off x="502919" y="398272"/>
            <a:ext cx="6347767"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180">
                <a:solidFill>
                  <a:srgbClr val="6B6B6B"/>
                </a:solidFill>
                <a:latin typeface="Consolas"/>
                <a:ea typeface="Consolas"/>
                <a:cs typeface="Consolas"/>
                <a:sym typeface="Consolas"/>
              </a:defRPr>
            </a:lvl1pPr>
          </a:lstStyle>
          <a:p>
            <a:r>
              <a:t>■  06  /  INTENT &amp; CONTROL LAYER</a:t>
            </a:r>
          </a:p>
        </p:txBody>
      </p:sp>
      <p:sp>
        <p:nvSpPr>
          <p:cNvPr id="157" name="Text 1"/>
          <p:cNvSpPr txBox="1"/>
          <p:nvPr/>
        </p:nvSpPr>
        <p:spPr>
          <a:xfrm>
            <a:off x="502920" y="398272"/>
            <a:ext cx="813816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800" spc="100">
                <a:solidFill>
                  <a:srgbClr val="9A9A9A"/>
                </a:solidFill>
                <a:latin typeface="Consolas"/>
                <a:ea typeface="Consolas"/>
                <a:cs typeface="Consolas"/>
                <a:sym typeface="Consolas"/>
              </a:defRPr>
            </a:lvl1pPr>
          </a:lstStyle>
          <a:p>
            <a:r>
              <a:t>08 / 12</a:t>
            </a:r>
          </a:p>
        </p:txBody>
      </p:sp>
      <p:sp>
        <p:nvSpPr>
          <p:cNvPr id="158" name="Shape 2"/>
          <p:cNvSpPr/>
          <p:nvPr/>
        </p:nvSpPr>
        <p:spPr>
          <a:xfrm>
            <a:off x="502920" y="704087"/>
            <a:ext cx="8138160" cy="1"/>
          </a:xfrm>
          <a:prstGeom prst="line">
            <a:avLst/>
          </a:prstGeom>
          <a:ln>
            <a:solidFill>
              <a:srgbClr val="E6E6E6"/>
            </a:solidFill>
          </a:ln>
        </p:spPr>
        <p:txBody>
          <a:bodyPr lIns="45719" rIns="45719"/>
          <a:lstStyle/>
          <a:p>
            <a:endParaRPr/>
          </a:p>
        </p:txBody>
      </p:sp>
      <p:sp>
        <p:nvSpPr>
          <p:cNvPr id="159" name="Shape 3"/>
          <p:cNvSpPr/>
          <p:nvPr/>
        </p:nvSpPr>
        <p:spPr>
          <a:xfrm>
            <a:off x="502919" y="822960"/>
            <a:ext cx="1389890" cy="246889"/>
          </a:xfrm>
          <a:prstGeom prst="roundRect">
            <a:avLst>
              <a:gd name="adj" fmla="val 48148"/>
            </a:avLst>
          </a:prstGeom>
          <a:solidFill>
            <a:srgbClr val="FFFFFF"/>
          </a:solidFill>
          <a:ln w="12700">
            <a:solidFill>
              <a:srgbClr val="E6E6E6"/>
            </a:solidFill>
          </a:ln>
        </p:spPr>
        <p:txBody>
          <a:bodyPr lIns="45719" rIns="45719"/>
          <a:lstStyle/>
          <a:p>
            <a:endParaRPr/>
          </a:p>
        </p:txBody>
      </p:sp>
      <p:sp>
        <p:nvSpPr>
          <p:cNvPr id="160" name="Text 4"/>
          <p:cNvSpPr txBox="1"/>
          <p:nvPr/>
        </p:nvSpPr>
        <p:spPr>
          <a:xfrm>
            <a:off x="502919" y="882904"/>
            <a:ext cx="138989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lgn="ctr">
              <a:defRPr sz="700" spc="150">
                <a:solidFill>
                  <a:srgbClr val="2E7D52"/>
                </a:solidFill>
                <a:latin typeface="Consolas"/>
                <a:ea typeface="Consolas"/>
                <a:cs typeface="Consolas"/>
                <a:sym typeface="Consolas"/>
              </a:defRPr>
            </a:pPr>
            <a:r>
              <a:t>●  </a:t>
            </a:r>
            <a:r>
              <a:rPr>
                <a:solidFill>
                  <a:srgbClr val="6B6B6B"/>
                </a:solidFill>
              </a:rPr>
              <a:t>STAGE 03 OF 04</a:t>
            </a:r>
          </a:p>
        </p:txBody>
      </p:sp>
      <p:sp>
        <p:nvSpPr>
          <p:cNvPr id="161" name="Text 5"/>
          <p:cNvSpPr txBox="1"/>
          <p:nvPr/>
        </p:nvSpPr>
        <p:spPr>
          <a:xfrm>
            <a:off x="502919" y="1225741"/>
            <a:ext cx="2395729" cy="712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2300">
                <a:solidFill>
                  <a:srgbClr val="0A0A0A"/>
                </a:solidFill>
              </a:defRPr>
            </a:pPr>
            <a:r>
              <a:t>Visual state → </a:t>
            </a:r>
            <a:r>
              <a:rPr>
                <a:solidFill>
                  <a:srgbClr val="2E7D52"/>
                </a:solidFill>
                <a:latin typeface="Consolas"/>
                <a:ea typeface="Consolas"/>
                <a:cs typeface="Consolas"/>
                <a:sym typeface="Consolas"/>
              </a:rPr>
              <a:t>robot intent</a:t>
            </a:r>
            <a:r>
              <a:t>.</a:t>
            </a:r>
          </a:p>
        </p:txBody>
      </p:sp>
      <p:sp>
        <p:nvSpPr>
          <p:cNvPr id="162" name="Text 6"/>
          <p:cNvSpPr txBox="1"/>
          <p:nvPr/>
        </p:nvSpPr>
        <p:spPr>
          <a:xfrm>
            <a:off x="502919" y="2171361"/>
            <a:ext cx="2395729" cy="10156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a:solidFill>
                  <a:srgbClr val="6B6B6B"/>
                </a:solidFill>
              </a:defRPr>
            </a:lvl1pPr>
          </a:lstStyle>
          <a:p>
            <a:r>
              <a:rPr dirty="0"/>
              <a:t>A finite-state controller mediates between perception and motors so the arm doesn't lurch on every small visual change. The same intent layer also accepts keyboard and web commands </a:t>
            </a:r>
            <a:r>
              <a:rPr dirty="0" smtClean="0"/>
              <a:t> </a:t>
            </a:r>
            <a:r>
              <a:rPr dirty="0"/>
              <a:t>one path, two front-ends.</a:t>
            </a:r>
          </a:p>
        </p:txBody>
      </p:sp>
      <p:sp>
        <p:nvSpPr>
          <p:cNvPr id="163" name="Text 7"/>
          <p:cNvSpPr txBox="1"/>
          <p:nvPr/>
        </p:nvSpPr>
        <p:spPr>
          <a:xfrm>
            <a:off x="3246119" y="860044"/>
            <a:ext cx="5394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200">
                <a:solidFill>
                  <a:srgbClr val="6B6B6B"/>
                </a:solidFill>
                <a:latin typeface="Consolas"/>
                <a:ea typeface="Consolas"/>
                <a:cs typeface="Consolas"/>
                <a:sym typeface="Consolas"/>
              </a:defRPr>
            </a:lvl1pPr>
          </a:lstStyle>
          <a:p>
            <a:r>
              <a:t>INTENT VOCABULARY</a:t>
            </a:r>
          </a:p>
        </p:txBody>
      </p:sp>
      <p:sp>
        <p:nvSpPr>
          <p:cNvPr id="164" name="Shape 8"/>
          <p:cNvSpPr/>
          <p:nvPr/>
        </p:nvSpPr>
        <p:spPr>
          <a:xfrm>
            <a:off x="3246120" y="1143000"/>
            <a:ext cx="1435609" cy="256032"/>
          </a:xfrm>
          <a:prstGeom prst="roundRect">
            <a:avLst>
              <a:gd name="adj" fmla="val 14286"/>
            </a:avLst>
          </a:prstGeom>
          <a:solidFill>
            <a:srgbClr val="FFFFFF"/>
          </a:solidFill>
          <a:ln w="12700">
            <a:solidFill>
              <a:srgbClr val="E6E6E6"/>
            </a:solidFill>
          </a:ln>
        </p:spPr>
        <p:txBody>
          <a:bodyPr lIns="45719" rIns="45719"/>
          <a:lstStyle/>
          <a:p>
            <a:endParaRPr/>
          </a:p>
        </p:txBody>
      </p:sp>
      <p:sp>
        <p:nvSpPr>
          <p:cNvPr id="165" name="Text 9"/>
          <p:cNvSpPr txBox="1"/>
          <p:nvPr/>
        </p:nvSpPr>
        <p:spPr>
          <a:xfrm>
            <a:off x="3246120" y="1203882"/>
            <a:ext cx="1435609"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1F1F1F"/>
                </a:solidFill>
              </a:defRPr>
            </a:lvl1pPr>
          </a:lstStyle>
          <a:p>
            <a:r>
              <a:t>Follow the hand</a:t>
            </a:r>
          </a:p>
        </p:txBody>
      </p:sp>
      <p:sp>
        <p:nvSpPr>
          <p:cNvPr id="166" name="Shape 10"/>
          <p:cNvSpPr/>
          <p:nvPr/>
        </p:nvSpPr>
        <p:spPr>
          <a:xfrm>
            <a:off x="4773167" y="1143000"/>
            <a:ext cx="1199694" cy="256032"/>
          </a:xfrm>
          <a:prstGeom prst="roundRect">
            <a:avLst>
              <a:gd name="adj" fmla="val 14286"/>
            </a:avLst>
          </a:prstGeom>
          <a:solidFill>
            <a:srgbClr val="FFFFFF"/>
          </a:solidFill>
          <a:ln w="12700">
            <a:solidFill>
              <a:srgbClr val="E6E6E6"/>
            </a:solidFill>
          </a:ln>
        </p:spPr>
        <p:txBody>
          <a:bodyPr lIns="45719" rIns="45719"/>
          <a:lstStyle/>
          <a:p>
            <a:endParaRPr/>
          </a:p>
        </p:txBody>
      </p:sp>
      <p:sp>
        <p:nvSpPr>
          <p:cNvPr id="167" name="Text 11"/>
          <p:cNvSpPr txBox="1"/>
          <p:nvPr/>
        </p:nvSpPr>
        <p:spPr>
          <a:xfrm>
            <a:off x="4773167" y="1203882"/>
            <a:ext cx="1199694"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1F1F1F"/>
                </a:solidFill>
              </a:defRPr>
            </a:lvl1pPr>
          </a:lstStyle>
          <a:p>
            <a:r>
              <a:t>Open gripper</a:t>
            </a:r>
          </a:p>
        </p:txBody>
      </p:sp>
      <p:sp>
        <p:nvSpPr>
          <p:cNvPr id="168" name="Shape 12"/>
          <p:cNvSpPr/>
          <p:nvPr/>
        </p:nvSpPr>
        <p:spPr>
          <a:xfrm>
            <a:off x="6064301" y="1143000"/>
            <a:ext cx="1278332" cy="256032"/>
          </a:xfrm>
          <a:prstGeom prst="roundRect">
            <a:avLst>
              <a:gd name="adj" fmla="val 14286"/>
            </a:avLst>
          </a:prstGeom>
          <a:solidFill>
            <a:srgbClr val="FFFFFF"/>
          </a:solidFill>
          <a:ln w="12700">
            <a:solidFill>
              <a:srgbClr val="E6E6E6"/>
            </a:solidFill>
          </a:ln>
        </p:spPr>
        <p:txBody>
          <a:bodyPr lIns="45719" rIns="45719"/>
          <a:lstStyle/>
          <a:p>
            <a:endParaRPr/>
          </a:p>
        </p:txBody>
      </p:sp>
      <p:sp>
        <p:nvSpPr>
          <p:cNvPr id="169" name="Text 13"/>
          <p:cNvSpPr txBox="1"/>
          <p:nvPr/>
        </p:nvSpPr>
        <p:spPr>
          <a:xfrm>
            <a:off x="6064301" y="1203882"/>
            <a:ext cx="1278332"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1F1F1F"/>
                </a:solidFill>
              </a:defRPr>
            </a:lvl1pPr>
          </a:lstStyle>
          <a:p>
            <a:r>
              <a:t>Close gripper</a:t>
            </a:r>
          </a:p>
        </p:txBody>
      </p:sp>
      <p:sp>
        <p:nvSpPr>
          <p:cNvPr id="170" name="Shape 14"/>
          <p:cNvSpPr/>
          <p:nvPr/>
        </p:nvSpPr>
        <p:spPr>
          <a:xfrm>
            <a:off x="3246120" y="1490472"/>
            <a:ext cx="1278332" cy="256033"/>
          </a:xfrm>
          <a:prstGeom prst="roundRect">
            <a:avLst>
              <a:gd name="adj" fmla="val 14286"/>
            </a:avLst>
          </a:prstGeom>
          <a:solidFill>
            <a:srgbClr val="FFFFFF"/>
          </a:solidFill>
          <a:ln w="12700">
            <a:solidFill>
              <a:srgbClr val="E6E6E6"/>
            </a:solidFill>
          </a:ln>
        </p:spPr>
        <p:txBody>
          <a:bodyPr lIns="45719" rIns="45719"/>
          <a:lstStyle/>
          <a:p>
            <a:endParaRPr/>
          </a:p>
        </p:txBody>
      </p:sp>
      <p:sp>
        <p:nvSpPr>
          <p:cNvPr id="171" name="Text 15"/>
          <p:cNvSpPr txBox="1"/>
          <p:nvPr/>
        </p:nvSpPr>
        <p:spPr>
          <a:xfrm>
            <a:off x="3246120" y="1551354"/>
            <a:ext cx="1278332"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1F1F1F"/>
                </a:solidFill>
              </a:defRPr>
            </a:lvl1pPr>
          </a:lstStyle>
          <a:p>
            <a:r>
              <a:t>Select target</a:t>
            </a:r>
          </a:p>
        </p:txBody>
      </p:sp>
      <p:sp>
        <p:nvSpPr>
          <p:cNvPr id="172" name="Shape 16"/>
          <p:cNvSpPr/>
          <p:nvPr/>
        </p:nvSpPr>
        <p:spPr>
          <a:xfrm>
            <a:off x="4615891" y="1490472"/>
            <a:ext cx="1671524" cy="256033"/>
          </a:xfrm>
          <a:prstGeom prst="roundRect">
            <a:avLst>
              <a:gd name="adj" fmla="val 14286"/>
            </a:avLst>
          </a:prstGeom>
          <a:solidFill>
            <a:srgbClr val="FFFFFF"/>
          </a:solidFill>
          <a:ln w="12700">
            <a:solidFill>
              <a:srgbClr val="E6E6E6"/>
            </a:solidFill>
          </a:ln>
        </p:spPr>
        <p:txBody>
          <a:bodyPr lIns="45719" rIns="45719"/>
          <a:lstStyle/>
          <a:p>
            <a:endParaRPr/>
          </a:p>
        </p:txBody>
      </p:sp>
      <p:sp>
        <p:nvSpPr>
          <p:cNvPr id="173" name="Text 17"/>
          <p:cNvSpPr txBox="1"/>
          <p:nvPr/>
        </p:nvSpPr>
        <p:spPr>
          <a:xfrm>
            <a:off x="4615891" y="1551354"/>
            <a:ext cx="1671524"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1F1F1F"/>
                </a:solidFill>
              </a:defRPr>
            </a:lvl1pPr>
          </a:lstStyle>
          <a:p>
            <a:r>
              <a:t>Point at direction</a:t>
            </a:r>
          </a:p>
        </p:txBody>
      </p:sp>
      <p:sp>
        <p:nvSpPr>
          <p:cNvPr id="174" name="Shape 18"/>
          <p:cNvSpPr/>
          <p:nvPr/>
        </p:nvSpPr>
        <p:spPr>
          <a:xfrm>
            <a:off x="6378854" y="1490472"/>
            <a:ext cx="1592886" cy="256033"/>
          </a:xfrm>
          <a:prstGeom prst="roundRect">
            <a:avLst>
              <a:gd name="adj" fmla="val 14286"/>
            </a:avLst>
          </a:prstGeom>
          <a:solidFill>
            <a:srgbClr val="FFFFFF"/>
          </a:solidFill>
          <a:ln w="12700">
            <a:solidFill>
              <a:srgbClr val="E6E6E6"/>
            </a:solidFill>
          </a:ln>
        </p:spPr>
        <p:txBody>
          <a:bodyPr lIns="45719" rIns="45719"/>
          <a:lstStyle/>
          <a:p>
            <a:endParaRPr/>
          </a:p>
        </p:txBody>
      </p:sp>
      <p:sp>
        <p:nvSpPr>
          <p:cNvPr id="175" name="Text 19"/>
          <p:cNvSpPr txBox="1"/>
          <p:nvPr/>
        </p:nvSpPr>
        <p:spPr>
          <a:xfrm>
            <a:off x="6378854" y="1551354"/>
            <a:ext cx="1592886"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1F1F1F"/>
                </a:solidFill>
              </a:defRPr>
            </a:lvl1pPr>
          </a:lstStyle>
          <a:p>
            <a:r>
              <a:t>Greeting sequence</a:t>
            </a:r>
          </a:p>
        </p:txBody>
      </p:sp>
      <p:sp>
        <p:nvSpPr>
          <p:cNvPr id="176" name="Shape 20"/>
          <p:cNvSpPr/>
          <p:nvPr/>
        </p:nvSpPr>
        <p:spPr>
          <a:xfrm>
            <a:off x="3246120" y="1837944"/>
            <a:ext cx="1592886" cy="256033"/>
          </a:xfrm>
          <a:prstGeom prst="roundRect">
            <a:avLst>
              <a:gd name="adj" fmla="val 14286"/>
            </a:avLst>
          </a:prstGeom>
          <a:solidFill>
            <a:srgbClr val="FFFFFF"/>
          </a:solidFill>
          <a:ln w="12700">
            <a:solidFill>
              <a:srgbClr val="E6E6E6"/>
            </a:solidFill>
          </a:ln>
        </p:spPr>
        <p:txBody>
          <a:bodyPr lIns="45719" rIns="45719"/>
          <a:lstStyle/>
          <a:p>
            <a:endParaRPr/>
          </a:p>
        </p:txBody>
      </p:sp>
      <p:sp>
        <p:nvSpPr>
          <p:cNvPr id="177" name="Text 21"/>
          <p:cNvSpPr txBox="1"/>
          <p:nvPr/>
        </p:nvSpPr>
        <p:spPr>
          <a:xfrm>
            <a:off x="3246120" y="1898826"/>
            <a:ext cx="1592886"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1F1F1F"/>
                </a:solidFill>
              </a:defRPr>
            </a:lvl1pPr>
          </a:lstStyle>
          <a:p>
            <a:r>
              <a:t>Response sequence</a:t>
            </a:r>
          </a:p>
        </p:txBody>
      </p:sp>
      <p:sp>
        <p:nvSpPr>
          <p:cNvPr id="178" name="Shape 22"/>
          <p:cNvSpPr/>
          <p:nvPr/>
        </p:nvSpPr>
        <p:spPr>
          <a:xfrm>
            <a:off x="4930445" y="1837944"/>
            <a:ext cx="1514247" cy="256033"/>
          </a:xfrm>
          <a:prstGeom prst="roundRect">
            <a:avLst>
              <a:gd name="adj" fmla="val 14286"/>
            </a:avLst>
          </a:prstGeom>
          <a:solidFill>
            <a:srgbClr val="FFFFFF"/>
          </a:solidFill>
          <a:ln w="12700">
            <a:solidFill>
              <a:srgbClr val="E6E6E6"/>
            </a:solidFill>
          </a:ln>
        </p:spPr>
        <p:txBody>
          <a:bodyPr lIns="45719" rIns="45719"/>
          <a:lstStyle/>
          <a:p>
            <a:endParaRPr/>
          </a:p>
        </p:txBody>
      </p:sp>
      <p:sp>
        <p:nvSpPr>
          <p:cNvPr id="179" name="Text 23"/>
          <p:cNvSpPr txBox="1"/>
          <p:nvPr/>
        </p:nvSpPr>
        <p:spPr>
          <a:xfrm>
            <a:off x="4930445" y="1898826"/>
            <a:ext cx="1514247"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1F1F1F"/>
                </a:solidFill>
              </a:defRPr>
            </a:lvl1pPr>
          </a:lstStyle>
          <a:p>
            <a:r>
              <a:t>Game interaction</a:t>
            </a:r>
          </a:p>
        </p:txBody>
      </p:sp>
      <p:sp>
        <p:nvSpPr>
          <p:cNvPr id="180" name="Shape 24"/>
          <p:cNvSpPr/>
          <p:nvPr/>
        </p:nvSpPr>
        <p:spPr>
          <a:xfrm>
            <a:off x="3246119" y="2560320"/>
            <a:ext cx="5394962" cy="1"/>
          </a:xfrm>
          <a:prstGeom prst="line">
            <a:avLst/>
          </a:prstGeom>
          <a:ln>
            <a:solidFill>
              <a:srgbClr val="E6E6E6"/>
            </a:solidFill>
          </a:ln>
        </p:spPr>
        <p:txBody>
          <a:bodyPr lIns="45719" rIns="45719"/>
          <a:lstStyle/>
          <a:p>
            <a:endParaRPr/>
          </a:p>
        </p:txBody>
      </p:sp>
      <p:sp>
        <p:nvSpPr>
          <p:cNvPr id="181" name="Text 25"/>
          <p:cNvSpPr txBox="1"/>
          <p:nvPr/>
        </p:nvSpPr>
        <p:spPr>
          <a:xfrm>
            <a:off x="3246119" y="2725419"/>
            <a:ext cx="5394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200">
                <a:solidFill>
                  <a:srgbClr val="6B6B6B"/>
                </a:solidFill>
                <a:latin typeface="Consolas"/>
                <a:ea typeface="Consolas"/>
                <a:cs typeface="Consolas"/>
                <a:sym typeface="Consolas"/>
              </a:defRPr>
            </a:lvl1pPr>
          </a:lstStyle>
          <a:p>
            <a:r>
              <a:t>WHY A REMOTE PATH MATTERS</a:t>
            </a:r>
          </a:p>
        </p:txBody>
      </p:sp>
      <p:sp>
        <p:nvSpPr>
          <p:cNvPr id="182" name="Text 26"/>
          <p:cNvSpPr txBox="1"/>
          <p:nvPr/>
        </p:nvSpPr>
        <p:spPr>
          <a:xfrm>
            <a:off x="3246119" y="3106281"/>
            <a:ext cx="5394962" cy="5539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1F1F1F"/>
                </a:solidFill>
              </a:defRPr>
            </a:lvl1pPr>
          </a:lstStyle>
          <a:p>
            <a:r>
              <a:rPr dirty="0"/>
              <a:t>If live tracking gets unstable mid-demo, the same motion primitives are still reachable through keyboard or web commands </a:t>
            </a:r>
            <a:r>
              <a:rPr dirty="0" smtClean="0"/>
              <a:t> </a:t>
            </a:r>
            <a:r>
              <a:rPr dirty="0"/>
              <a:t>while the live camera overlay shows perception is running. The presentation never goes silent.</a:t>
            </a:r>
          </a:p>
        </p:txBody>
      </p:sp>
      <p:sp>
        <p:nvSpPr>
          <p:cNvPr id="183" name="Shape 27"/>
          <p:cNvSpPr/>
          <p:nvPr/>
        </p:nvSpPr>
        <p:spPr>
          <a:xfrm>
            <a:off x="502919" y="4882896"/>
            <a:ext cx="73153" cy="73153"/>
          </a:xfrm>
          <a:prstGeom prst="rect">
            <a:avLst/>
          </a:prstGeom>
          <a:solidFill>
            <a:srgbClr val="0A0A0A"/>
          </a:solidFill>
          <a:ln w="12700">
            <a:solidFill>
              <a:srgbClr val="0A0A0A"/>
            </a:solidFill>
          </a:ln>
        </p:spPr>
        <p:txBody>
          <a:bodyPr lIns="45719" rIns="45719"/>
          <a:lstStyle/>
          <a:p>
            <a:endParaRPr/>
          </a:p>
        </p:txBody>
      </p:sp>
      <p:sp>
        <p:nvSpPr>
          <p:cNvPr id="184" name="Text 28"/>
          <p:cNvSpPr txBox="1"/>
          <p:nvPr/>
        </p:nvSpPr>
        <p:spPr>
          <a:xfrm>
            <a:off x="658368" y="4883404"/>
            <a:ext cx="27432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spc="150">
                <a:solidFill>
                  <a:srgbClr val="9A9A9A"/>
                </a:solidFill>
                <a:latin typeface="Consolas"/>
                <a:ea typeface="Consolas"/>
                <a:cs typeface="Consolas"/>
                <a:sym typeface="Consolas"/>
              </a:defRPr>
            </a:lvl1pPr>
          </a:lstStyle>
          <a:p>
            <a:r>
              <a:t>Vision-Guided Robotic Arm</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Text 0"/>
          <p:cNvSpPr txBox="1"/>
          <p:nvPr/>
        </p:nvSpPr>
        <p:spPr>
          <a:xfrm>
            <a:off x="502919" y="398272"/>
            <a:ext cx="6347767"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180">
                <a:solidFill>
                  <a:srgbClr val="6B6B6B"/>
                </a:solidFill>
                <a:latin typeface="Consolas"/>
                <a:ea typeface="Consolas"/>
                <a:cs typeface="Consolas"/>
                <a:sym typeface="Consolas"/>
              </a:defRPr>
            </a:lvl1pPr>
          </a:lstStyle>
          <a:p>
            <a:r>
              <a:t>■  07  /  ACTUATION LAYER</a:t>
            </a:r>
          </a:p>
        </p:txBody>
      </p:sp>
      <p:sp>
        <p:nvSpPr>
          <p:cNvPr id="187" name="Text 1"/>
          <p:cNvSpPr txBox="1"/>
          <p:nvPr/>
        </p:nvSpPr>
        <p:spPr>
          <a:xfrm>
            <a:off x="502920" y="398272"/>
            <a:ext cx="813816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800" spc="100">
                <a:solidFill>
                  <a:srgbClr val="9A9A9A"/>
                </a:solidFill>
                <a:latin typeface="Consolas"/>
                <a:ea typeface="Consolas"/>
                <a:cs typeface="Consolas"/>
                <a:sym typeface="Consolas"/>
              </a:defRPr>
            </a:lvl1pPr>
          </a:lstStyle>
          <a:p>
            <a:r>
              <a:t>09 / 12</a:t>
            </a:r>
          </a:p>
        </p:txBody>
      </p:sp>
      <p:sp>
        <p:nvSpPr>
          <p:cNvPr id="188" name="Shape 2"/>
          <p:cNvSpPr/>
          <p:nvPr/>
        </p:nvSpPr>
        <p:spPr>
          <a:xfrm>
            <a:off x="502920" y="704087"/>
            <a:ext cx="8138160" cy="1"/>
          </a:xfrm>
          <a:prstGeom prst="line">
            <a:avLst/>
          </a:prstGeom>
          <a:ln>
            <a:solidFill>
              <a:srgbClr val="E6E6E6"/>
            </a:solidFill>
          </a:ln>
        </p:spPr>
        <p:txBody>
          <a:bodyPr lIns="45719" rIns="45719"/>
          <a:lstStyle/>
          <a:p>
            <a:endParaRPr/>
          </a:p>
        </p:txBody>
      </p:sp>
      <p:sp>
        <p:nvSpPr>
          <p:cNvPr id="189" name="Shape 3"/>
          <p:cNvSpPr/>
          <p:nvPr/>
        </p:nvSpPr>
        <p:spPr>
          <a:xfrm>
            <a:off x="502919" y="822960"/>
            <a:ext cx="1389890" cy="246889"/>
          </a:xfrm>
          <a:prstGeom prst="roundRect">
            <a:avLst>
              <a:gd name="adj" fmla="val 48148"/>
            </a:avLst>
          </a:prstGeom>
          <a:solidFill>
            <a:srgbClr val="FFFFFF"/>
          </a:solidFill>
          <a:ln w="12700">
            <a:solidFill>
              <a:srgbClr val="E6E6E6"/>
            </a:solidFill>
          </a:ln>
        </p:spPr>
        <p:txBody>
          <a:bodyPr lIns="45719" rIns="45719"/>
          <a:lstStyle/>
          <a:p>
            <a:endParaRPr/>
          </a:p>
        </p:txBody>
      </p:sp>
      <p:sp>
        <p:nvSpPr>
          <p:cNvPr id="190" name="Text 4"/>
          <p:cNvSpPr txBox="1"/>
          <p:nvPr/>
        </p:nvSpPr>
        <p:spPr>
          <a:xfrm>
            <a:off x="502919" y="882904"/>
            <a:ext cx="138989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lgn="ctr">
              <a:defRPr sz="700" spc="150">
                <a:solidFill>
                  <a:srgbClr val="2E7D52"/>
                </a:solidFill>
                <a:latin typeface="Consolas"/>
                <a:ea typeface="Consolas"/>
                <a:cs typeface="Consolas"/>
                <a:sym typeface="Consolas"/>
              </a:defRPr>
            </a:pPr>
            <a:r>
              <a:t>●  </a:t>
            </a:r>
            <a:r>
              <a:rPr>
                <a:solidFill>
                  <a:srgbClr val="6B6B6B"/>
                </a:solidFill>
              </a:rPr>
              <a:t>STAGE 04 OF 04</a:t>
            </a:r>
          </a:p>
        </p:txBody>
      </p:sp>
      <p:sp>
        <p:nvSpPr>
          <p:cNvPr id="191" name="Text 5"/>
          <p:cNvSpPr txBox="1"/>
          <p:nvPr/>
        </p:nvSpPr>
        <p:spPr>
          <a:xfrm>
            <a:off x="502919" y="1047941"/>
            <a:ext cx="2395729" cy="10679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2300">
                <a:solidFill>
                  <a:srgbClr val="0A0A0A"/>
                </a:solidFill>
              </a:defRPr>
            </a:pPr>
            <a:r>
              <a:t>Calibrated poses, </a:t>
            </a:r>
            <a:r>
              <a:rPr>
                <a:solidFill>
                  <a:srgbClr val="2E7D52"/>
                </a:solidFill>
                <a:latin typeface="Consolas"/>
                <a:ea typeface="Consolas"/>
                <a:cs typeface="Consolas"/>
                <a:sym typeface="Consolas"/>
              </a:rPr>
              <a:t>composable</a:t>
            </a:r>
            <a:r>
              <a:t> behavior.</a:t>
            </a:r>
          </a:p>
        </p:txBody>
      </p:sp>
      <p:sp>
        <p:nvSpPr>
          <p:cNvPr id="192" name="Text 6"/>
          <p:cNvSpPr txBox="1"/>
          <p:nvPr/>
        </p:nvSpPr>
        <p:spPr>
          <a:xfrm>
            <a:off x="502919" y="2210279"/>
            <a:ext cx="2395729" cy="8463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a:solidFill>
                  <a:srgbClr val="6B6B6B"/>
                </a:solidFill>
              </a:defRPr>
            </a:lvl1pPr>
          </a:lstStyle>
          <a:p>
            <a:r>
              <a:rPr dirty="0"/>
              <a:t>A LEGO SPIKE arm with saved motor positions. Complex behaviors are built as sequences of simple primitives </a:t>
            </a:r>
            <a:r>
              <a:rPr dirty="0" smtClean="0"/>
              <a:t> </a:t>
            </a:r>
            <a:r>
              <a:rPr dirty="0"/>
              <a:t>every high-level action decomposes into known, repeatable commands.</a:t>
            </a:r>
          </a:p>
        </p:txBody>
      </p:sp>
      <p:sp>
        <p:nvSpPr>
          <p:cNvPr id="193" name="Text 7"/>
          <p:cNvSpPr txBox="1"/>
          <p:nvPr/>
        </p:nvSpPr>
        <p:spPr>
          <a:xfrm>
            <a:off x="3246119" y="860044"/>
            <a:ext cx="5394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200">
                <a:solidFill>
                  <a:srgbClr val="6B6B6B"/>
                </a:solidFill>
                <a:latin typeface="Consolas"/>
                <a:ea typeface="Consolas"/>
                <a:cs typeface="Consolas"/>
                <a:sym typeface="Consolas"/>
              </a:defRPr>
            </a:lvl1pPr>
          </a:lstStyle>
          <a:p>
            <a:r>
              <a:t>SAVED POSES</a:t>
            </a:r>
          </a:p>
        </p:txBody>
      </p:sp>
      <p:sp>
        <p:nvSpPr>
          <p:cNvPr id="194" name="Shape 8"/>
          <p:cNvSpPr/>
          <p:nvPr/>
        </p:nvSpPr>
        <p:spPr>
          <a:xfrm>
            <a:off x="3246120" y="1133855"/>
            <a:ext cx="822961" cy="256033"/>
          </a:xfrm>
          <a:prstGeom prst="roundRect">
            <a:avLst>
              <a:gd name="adj" fmla="val 14286"/>
            </a:avLst>
          </a:prstGeom>
          <a:solidFill>
            <a:srgbClr val="FFFFFF"/>
          </a:solidFill>
          <a:ln w="12700">
            <a:solidFill>
              <a:srgbClr val="E6E6E6"/>
            </a:solidFill>
          </a:ln>
        </p:spPr>
        <p:txBody>
          <a:bodyPr lIns="45719" rIns="45719"/>
          <a:lstStyle/>
          <a:p>
            <a:endParaRPr/>
          </a:p>
        </p:txBody>
      </p:sp>
      <p:sp>
        <p:nvSpPr>
          <p:cNvPr id="195" name="Text 9"/>
          <p:cNvSpPr txBox="1"/>
          <p:nvPr/>
        </p:nvSpPr>
        <p:spPr>
          <a:xfrm>
            <a:off x="3246120" y="1194738"/>
            <a:ext cx="822961"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1F1F1F"/>
                </a:solidFill>
              </a:defRPr>
            </a:lvl1pPr>
          </a:lstStyle>
          <a:p>
            <a:r>
              <a:t>Neutral</a:t>
            </a:r>
          </a:p>
        </p:txBody>
      </p:sp>
      <p:sp>
        <p:nvSpPr>
          <p:cNvPr id="196" name="Shape 10"/>
          <p:cNvSpPr/>
          <p:nvPr/>
        </p:nvSpPr>
        <p:spPr>
          <a:xfrm>
            <a:off x="4160520" y="1133855"/>
            <a:ext cx="822961" cy="256033"/>
          </a:xfrm>
          <a:prstGeom prst="roundRect">
            <a:avLst>
              <a:gd name="adj" fmla="val 14286"/>
            </a:avLst>
          </a:prstGeom>
          <a:solidFill>
            <a:srgbClr val="FFFFFF"/>
          </a:solidFill>
          <a:ln w="12700">
            <a:solidFill>
              <a:srgbClr val="E6E6E6"/>
            </a:solidFill>
          </a:ln>
        </p:spPr>
        <p:txBody>
          <a:bodyPr lIns="45719" rIns="45719"/>
          <a:lstStyle/>
          <a:p>
            <a:endParaRPr/>
          </a:p>
        </p:txBody>
      </p:sp>
      <p:sp>
        <p:nvSpPr>
          <p:cNvPr id="197" name="Text 11"/>
          <p:cNvSpPr txBox="1"/>
          <p:nvPr/>
        </p:nvSpPr>
        <p:spPr>
          <a:xfrm>
            <a:off x="4160520" y="1194738"/>
            <a:ext cx="822961"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1F1F1F"/>
                </a:solidFill>
              </a:defRPr>
            </a:lvl1pPr>
          </a:lstStyle>
          <a:p>
            <a:r>
              <a:t>Open</a:t>
            </a:r>
          </a:p>
        </p:txBody>
      </p:sp>
      <p:sp>
        <p:nvSpPr>
          <p:cNvPr id="198" name="Shape 12"/>
          <p:cNvSpPr/>
          <p:nvPr/>
        </p:nvSpPr>
        <p:spPr>
          <a:xfrm>
            <a:off x="5074920" y="1133855"/>
            <a:ext cx="822961" cy="256033"/>
          </a:xfrm>
          <a:prstGeom prst="roundRect">
            <a:avLst>
              <a:gd name="adj" fmla="val 14286"/>
            </a:avLst>
          </a:prstGeom>
          <a:solidFill>
            <a:srgbClr val="FFFFFF"/>
          </a:solidFill>
          <a:ln w="12700">
            <a:solidFill>
              <a:srgbClr val="E6E6E6"/>
            </a:solidFill>
          </a:ln>
        </p:spPr>
        <p:txBody>
          <a:bodyPr lIns="45719" rIns="45719"/>
          <a:lstStyle/>
          <a:p>
            <a:endParaRPr/>
          </a:p>
        </p:txBody>
      </p:sp>
      <p:sp>
        <p:nvSpPr>
          <p:cNvPr id="199" name="Text 13"/>
          <p:cNvSpPr txBox="1"/>
          <p:nvPr/>
        </p:nvSpPr>
        <p:spPr>
          <a:xfrm>
            <a:off x="5074920" y="1194738"/>
            <a:ext cx="822961"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1F1F1F"/>
                </a:solidFill>
              </a:defRPr>
            </a:lvl1pPr>
          </a:lstStyle>
          <a:p>
            <a:r>
              <a:t>Closed</a:t>
            </a:r>
          </a:p>
        </p:txBody>
      </p:sp>
      <p:sp>
        <p:nvSpPr>
          <p:cNvPr id="200" name="Shape 14"/>
          <p:cNvSpPr/>
          <p:nvPr/>
        </p:nvSpPr>
        <p:spPr>
          <a:xfrm>
            <a:off x="5989320" y="1133855"/>
            <a:ext cx="822961" cy="256033"/>
          </a:xfrm>
          <a:prstGeom prst="roundRect">
            <a:avLst>
              <a:gd name="adj" fmla="val 14286"/>
            </a:avLst>
          </a:prstGeom>
          <a:solidFill>
            <a:srgbClr val="FFFFFF"/>
          </a:solidFill>
          <a:ln w="12700">
            <a:solidFill>
              <a:srgbClr val="E6E6E6"/>
            </a:solidFill>
          </a:ln>
        </p:spPr>
        <p:txBody>
          <a:bodyPr lIns="45719" rIns="45719"/>
          <a:lstStyle/>
          <a:p>
            <a:endParaRPr/>
          </a:p>
        </p:txBody>
      </p:sp>
      <p:sp>
        <p:nvSpPr>
          <p:cNvPr id="201" name="Text 15"/>
          <p:cNvSpPr txBox="1"/>
          <p:nvPr/>
        </p:nvSpPr>
        <p:spPr>
          <a:xfrm>
            <a:off x="5989320" y="1194738"/>
            <a:ext cx="822961"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1F1F1F"/>
                </a:solidFill>
              </a:defRPr>
            </a:lvl1pPr>
          </a:lstStyle>
          <a:p>
            <a:r>
              <a:t>Pointing</a:t>
            </a:r>
          </a:p>
        </p:txBody>
      </p:sp>
      <p:sp>
        <p:nvSpPr>
          <p:cNvPr id="202" name="Shape 16"/>
          <p:cNvSpPr/>
          <p:nvPr/>
        </p:nvSpPr>
        <p:spPr>
          <a:xfrm>
            <a:off x="6903719" y="1133855"/>
            <a:ext cx="822961" cy="256033"/>
          </a:xfrm>
          <a:prstGeom prst="roundRect">
            <a:avLst>
              <a:gd name="adj" fmla="val 14286"/>
            </a:avLst>
          </a:prstGeom>
          <a:solidFill>
            <a:srgbClr val="FFFFFF"/>
          </a:solidFill>
          <a:ln w="12700">
            <a:solidFill>
              <a:srgbClr val="E6E6E6"/>
            </a:solidFill>
          </a:ln>
        </p:spPr>
        <p:txBody>
          <a:bodyPr lIns="45719" rIns="45719"/>
          <a:lstStyle/>
          <a:p>
            <a:endParaRPr/>
          </a:p>
        </p:txBody>
      </p:sp>
      <p:sp>
        <p:nvSpPr>
          <p:cNvPr id="203" name="Text 17"/>
          <p:cNvSpPr txBox="1"/>
          <p:nvPr/>
        </p:nvSpPr>
        <p:spPr>
          <a:xfrm>
            <a:off x="6903719" y="1194738"/>
            <a:ext cx="822961"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1F1F1F"/>
                </a:solidFill>
              </a:defRPr>
            </a:lvl1pPr>
          </a:lstStyle>
          <a:p>
            <a:r>
              <a:t>Reach</a:t>
            </a:r>
          </a:p>
        </p:txBody>
      </p:sp>
      <p:sp>
        <p:nvSpPr>
          <p:cNvPr id="204" name="Shape 18"/>
          <p:cNvSpPr/>
          <p:nvPr/>
        </p:nvSpPr>
        <p:spPr>
          <a:xfrm>
            <a:off x="7818119" y="1133855"/>
            <a:ext cx="822961" cy="256033"/>
          </a:xfrm>
          <a:prstGeom prst="roundRect">
            <a:avLst>
              <a:gd name="adj" fmla="val 14286"/>
            </a:avLst>
          </a:prstGeom>
          <a:solidFill>
            <a:srgbClr val="FFFFFF"/>
          </a:solidFill>
          <a:ln w="12700">
            <a:solidFill>
              <a:srgbClr val="E6E6E6"/>
            </a:solidFill>
          </a:ln>
        </p:spPr>
        <p:txBody>
          <a:bodyPr lIns="45719" rIns="45719"/>
          <a:lstStyle/>
          <a:p>
            <a:endParaRPr/>
          </a:p>
        </p:txBody>
      </p:sp>
      <p:sp>
        <p:nvSpPr>
          <p:cNvPr id="205" name="Text 19"/>
          <p:cNvSpPr txBox="1"/>
          <p:nvPr/>
        </p:nvSpPr>
        <p:spPr>
          <a:xfrm>
            <a:off x="7818119" y="1194738"/>
            <a:ext cx="822961" cy="134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100">
                <a:solidFill>
                  <a:srgbClr val="1F1F1F"/>
                </a:solidFill>
              </a:defRPr>
            </a:lvl1pPr>
          </a:lstStyle>
          <a:p>
            <a:r>
              <a:t>Reset</a:t>
            </a:r>
          </a:p>
        </p:txBody>
      </p:sp>
      <p:sp>
        <p:nvSpPr>
          <p:cNvPr id="206" name="Shape 20"/>
          <p:cNvSpPr/>
          <p:nvPr/>
        </p:nvSpPr>
        <p:spPr>
          <a:xfrm>
            <a:off x="3246119" y="1600200"/>
            <a:ext cx="5394962" cy="0"/>
          </a:xfrm>
          <a:prstGeom prst="line">
            <a:avLst/>
          </a:prstGeom>
          <a:ln>
            <a:solidFill>
              <a:srgbClr val="E6E6E6"/>
            </a:solidFill>
          </a:ln>
        </p:spPr>
        <p:txBody>
          <a:bodyPr lIns="45719" rIns="45719"/>
          <a:lstStyle/>
          <a:p>
            <a:endParaRPr/>
          </a:p>
        </p:txBody>
      </p:sp>
      <p:sp>
        <p:nvSpPr>
          <p:cNvPr id="207" name="Text 21"/>
          <p:cNvSpPr txBox="1"/>
          <p:nvPr/>
        </p:nvSpPr>
        <p:spPr>
          <a:xfrm>
            <a:off x="3246119" y="1765299"/>
            <a:ext cx="5394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200">
                <a:solidFill>
                  <a:srgbClr val="6B6B6B"/>
                </a:solidFill>
                <a:latin typeface="Consolas"/>
                <a:ea typeface="Consolas"/>
                <a:cs typeface="Consolas"/>
                <a:sym typeface="Consolas"/>
              </a:defRPr>
            </a:lvl1pPr>
          </a:lstStyle>
          <a:p>
            <a:r>
              <a:t>SAFETY STATES</a:t>
            </a:r>
          </a:p>
        </p:txBody>
      </p:sp>
      <p:sp>
        <p:nvSpPr>
          <p:cNvPr id="208" name="Text 22"/>
          <p:cNvSpPr txBox="1"/>
          <p:nvPr/>
        </p:nvSpPr>
        <p:spPr>
          <a:xfrm>
            <a:off x="3246119" y="2154227"/>
            <a:ext cx="5394962" cy="537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1F1F1F"/>
                </a:solidFill>
              </a:defRPr>
            </a:lvl1pPr>
          </a:lstStyle>
          <a:p>
            <a:r>
              <a:t>Ambiguous command, lost tracking, or end of sequence → return to neutral or wait. Motor limits and pose ranges are checked during calibration to avoid self-collision and excess strain on the LEGO mechanism.</a:t>
            </a:r>
          </a:p>
        </p:txBody>
      </p:sp>
      <p:sp>
        <p:nvSpPr>
          <p:cNvPr id="209" name="Shape 23"/>
          <p:cNvSpPr/>
          <p:nvPr/>
        </p:nvSpPr>
        <p:spPr>
          <a:xfrm>
            <a:off x="502919" y="4882896"/>
            <a:ext cx="73153" cy="73153"/>
          </a:xfrm>
          <a:prstGeom prst="rect">
            <a:avLst/>
          </a:prstGeom>
          <a:solidFill>
            <a:srgbClr val="0A0A0A"/>
          </a:solidFill>
          <a:ln w="12700">
            <a:solidFill>
              <a:srgbClr val="0A0A0A"/>
            </a:solidFill>
          </a:ln>
        </p:spPr>
        <p:txBody>
          <a:bodyPr lIns="45719" rIns="45719"/>
          <a:lstStyle/>
          <a:p>
            <a:endParaRPr/>
          </a:p>
        </p:txBody>
      </p:sp>
      <p:sp>
        <p:nvSpPr>
          <p:cNvPr id="210" name="Text 24"/>
          <p:cNvSpPr txBox="1"/>
          <p:nvPr/>
        </p:nvSpPr>
        <p:spPr>
          <a:xfrm>
            <a:off x="658368" y="4883404"/>
            <a:ext cx="27432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spc="150">
                <a:solidFill>
                  <a:srgbClr val="9A9A9A"/>
                </a:solidFill>
                <a:latin typeface="Consolas"/>
                <a:ea typeface="Consolas"/>
                <a:cs typeface="Consolas"/>
                <a:sym typeface="Consolas"/>
              </a:defRPr>
            </a:lvl1pPr>
          </a:lstStyle>
          <a:p>
            <a:r>
              <a:t>Vision-Guided Robotic Arm</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Text 0"/>
          <p:cNvSpPr txBox="1"/>
          <p:nvPr/>
        </p:nvSpPr>
        <p:spPr>
          <a:xfrm>
            <a:off x="502919" y="398272"/>
            <a:ext cx="6347767"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180">
                <a:solidFill>
                  <a:srgbClr val="6B6B6B"/>
                </a:solidFill>
                <a:latin typeface="Consolas"/>
                <a:ea typeface="Consolas"/>
                <a:cs typeface="Consolas"/>
                <a:sym typeface="Consolas"/>
              </a:defRPr>
            </a:lvl1pPr>
          </a:lstStyle>
          <a:p>
            <a:r>
              <a:t>■  08  /  IMPLEMENTATION PLAN</a:t>
            </a:r>
          </a:p>
        </p:txBody>
      </p:sp>
      <p:sp>
        <p:nvSpPr>
          <p:cNvPr id="213" name="Text 1"/>
          <p:cNvSpPr txBox="1"/>
          <p:nvPr/>
        </p:nvSpPr>
        <p:spPr>
          <a:xfrm>
            <a:off x="502920" y="398272"/>
            <a:ext cx="813816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800" spc="100">
                <a:solidFill>
                  <a:srgbClr val="9A9A9A"/>
                </a:solidFill>
                <a:latin typeface="Consolas"/>
                <a:ea typeface="Consolas"/>
                <a:cs typeface="Consolas"/>
                <a:sym typeface="Consolas"/>
              </a:defRPr>
            </a:lvl1pPr>
          </a:lstStyle>
          <a:p>
            <a:r>
              <a:t>10 / 12</a:t>
            </a:r>
          </a:p>
        </p:txBody>
      </p:sp>
      <p:sp>
        <p:nvSpPr>
          <p:cNvPr id="214" name="Shape 2"/>
          <p:cNvSpPr/>
          <p:nvPr/>
        </p:nvSpPr>
        <p:spPr>
          <a:xfrm>
            <a:off x="502920" y="704087"/>
            <a:ext cx="8138160" cy="1"/>
          </a:xfrm>
          <a:prstGeom prst="line">
            <a:avLst/>
          </a:prstGeom>
          <a:ln>
            <a:solidFill>
              <a:srgbClr val="E6E6E6"/>
            </a:solidFill>
          </a:ln>
        </p:spPr>
        <p:txBody>
          <a:bodyPr lIns="45719" rIns="45719"/>
          <a:lstStyle/>
          <a:p>
            <a:endParaRPr/>
          </a:p>
        </p:txBody>
      </p:sp>
      <p:sp>
        <p:nvSpPr>
          <p:cNvPr id="215" name="Text 3"/>
          <p:cNvSpPr txBox="1"/>
          <p:nvPr/>
        </p:nvSpPr>
        <p:spPr>
          <a:xfrm>
            <a:off x="502920" y="880685"/>
            <a:ext cx="8138160" cy="4331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2800">
                <a:solidFill>
                  <a:srgbClr val="0A0A0A"/>
                </a:solidFill>
              </a:defRPr>
            </a:pPr>
            <a:r>
              <a:t>Five phases, each with a </a:t>
            </a:r>
            <a:r>
              <a:rPr>
                <a:solidFill>
                  <a:srgbClr val="2E7D52"/>
                </a:solidFill>
                <a:latin typeface="Consolas"/>
                <a:ea typeface="Consolas"/>
                <a:cs typeface="Consolas"/>
                <a:sym typeface="Consolas"/>
              </a:rPr>
              <a:t>deliverable</a:t>
            </a:r>
            <a:r>
              <a:t> we can demo.</a:t>
            </a:r>
          </a:p>
        </p:txBody>
      </p:sp>
      <p:sp>
        <p:nvSpPr>
          <p:cNvPr id="216" name="Shape 4"/>
          <p:cNvSpPr/>
          <p:nvPr/>
        </p:nvSpPr>
        <p:spPr>
          <a:xfrm>
            <a:off x="502920" y="1426463"/>
            <a:ext cx="8138160" cy="1"/>
          </a:xfrm>
          <a:prstGeom prst="line">
            <a:avLst/>
          </a:prstGeom>
          <a:ln>
            <a:solidFill>
              <a:srgbClr val="0A0A0A"/>
            </a:solidFill>
          </a:ln>
        </p:spPr>
        <p:txBody>
          <a:bodyPr lIns="45719" rIns="45719"/>
          <a:lstStyle/>
          <a:p>
            <a:endParaRPr/>
          </a:p>
        </p:txBody>
      </p:sp>
      <p:sp>
        <p:nvSpPr>
          <p:cNvPr id="217" name="Shape 5"/>
          <p:cNvSpPr/>
          <p:nvPr/>
        </p:nvSpPr>
        <p:spPr>
          <a:xfrm flipH="1">
            <a:off x="2130551" y="1426463"/>
            <a:ext cx="1" cy="3273554"/>
          </a:xfrm>
          <a:prstGeom prst="line">
            <a:avLst/>
          </a:prstGeom>
          <a:ln>
            <a:solidFill>
              <a:srgbClr val="E6E6E6"/>
            </a:solidFill>
          </a:ln>
        </p:spPr>
        <p:txBody>
          <a:bodyPr lIns="45719" rIns="45719"/>
          <a:lstStyle/>
          <a:p>
            <a:endParaRPr/>
          </a:p>
        </p:txBody>
      </p:sp>
      <p:sp>
        <p:nvSpPr>
          <p:cNvPr id="218" name="Shape 6"/>
          <p:cNvSpPr/>
          <p:nvPr/>
        </p:nvSpPr>
        <p:spPr>
          <a:xfrm>
            <a:off x="502919" y="1426463"/>
            <a:ext cx="301753" cy="36577"/>
          </a:xfrm>
          <a:prstGeom prst="rect">
            <a:avLst/>
          </a:prstGeom>
          <a:solidFill>
            <a:srgbClr val="2E7D52"/>
          </a:solidFill>
          <a:ln w="12700">
            <a:solidFill>
              <a:srgbClr val="2E7D52"/>
            </a:solidFill>
          </a:ln>
        </p:spPr>
        <p:txBody>
          <a:bodyPr lIns="45719" rIns="45719"/>
          <a:lstStyle/>
          <a:p>
            <a:endParaRPr/>
          </a:p>
        </p:txBody>
      </p:sp>
      <p:sp>
        <p:nvSpPr>
          <p:cNvPr id="219" name="Text 7"/>
          <p:cNvSpPr txBox="1"/>
          <p:nvPr/>
        </p:nvSpPr>
        <p:spPr>
          <a:xfrm>
            <a:off x="667512" y="1664716"/>
            <a:ext cx="1426465"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200">
                <a:solidFill>
                  <a:srgbClr val="9A9A9A"/>
                </a:solidFill>
                <a:latin typeface="Consolas"/>
                <a:ea typeface="Consolas"/>
                <a:cs typeface="Consolas"/>
                <a:sym typeface="Consolas"/>
              </a:defRPr>
            </a:lvl1pPr>
          </a:lstStyle>
          <a:p>
            <a:r>
              <a:t>PHASE 01</a:t>
            </a:r>
          </a:p>
        </p:txBody>
      </p:sp>
      <p:sp>
        <p:nvSpPr>
          <p:cNvPr id="220" name="Text 8"/>
          <p:cNvSpPr txBox="1"/>
          <p:nvPr/>
        </p:nvSpPr>
        <p:spPr>
          <a:xfrm>
            <a:off x="667512" y="2003868"/>
            <a:ext cx="1426465" cy="417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b="1">
                <a:solidFill>
                  <a:srgbClr val="0A0A0A"/>
                </a:solidFill>
              </a:defRPr>
            </a:lvl1pPr>
          </a:lstStyle>
          <a:p>
            <a:r>
              <a:t>Mechanical baseline</a:t>
            </a:r>
          </a:p>
        </p:txBody>
      </p:sp>
      <p:sp>
        <p:nvSpPr>
          <p:cNvPr id="221" name="Text 9"/>
          <p:cNvSpPr txBox="1"/>
          <p:nvPr/>
        </p:nvSpPr>
        <p:spPr>
          <a:xfrm>
            <a:off x="667512" y="2615183"/>
            <a:ext cx="1426465" cy="6295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100">
                <a:solidFill>
                  <a:srgbClr val="6B6B6B"/>
                </a:solidFill>
              </a:defRPr>
            </a:lvl1pPr>
          </a:lstStyle>
          <a:p>
            <a:r>
              <a:t>Stable LEGO arm. Gripper assembly. Neutral pose, open/close pose, reset behavior.</a:t>
            </a:r>
          </a:p>
        </p:txBody>
      </p:sp>
      <p:sp>
        <p:nvSpPr>
          <p:cNvPr id="222" name="Shape 10"/>
          <p:cNvSpPr/>
          <p:nvPr/>
        </p:nvSpPr>
        <p:spPr>
          <a:xfrm flipH="1">
            <a:off x="3758184" y="1426463"/>
            <a:ext cx="1" cy="3273554"/>
          </a:xfrm>
          <a:prstGeom prst="line">
            <a:avLst/>
          </a:prstGeom>
          <a:ln>
            <a:solidFill>
              <a:srgbClr val="E6E6E6"/>
            </a:solidFill>
          </a:ln>
        </p:spPr>
        <p:txBody>
          <a:bodyPr lIns="45719" rIns="45719"/>
          <a:lstStyle/>
          <a:p>
            <a:endParaRPr/>
          </a:p>
        </p:txBody>
      </p:sp>
      <p:sp>
        <p:nvSpPr>
          <p:cNvPr id="223" name="Shape 11"/>
          <p:cNvSpPr/>
          <p:nvPr/>
        </p:nvSpPr>
        <p:spPr>
          <a:xfrm>
            <a:off x="2130551" y="1426463"/>
            <a:ext cx="301753" cy="36577"/>
          </a:xfrm>
          <a:prstGeom prst="rect">
            <a:avLst/>
          </a:prstGeom>
          <a:solidFill>
            <a:srgbClr val="0A0A0A"/>
          </a:solidFill>
          <a:ln w="12700">
            <a:solidFill>
              <a:srgbClr val="0A0A0A"/>
            </a:solidFill>
          </a:ln>
        </p:spPr>
        <p:txBody>
          <a:bodyPr lIns="45719" rIns="45719"/>
          <a:lstStyle/>
          <a:p>
            <a:endParaRPr/>
          </a:p>
        </p:txBody>
      </p:sp>
      <p:sp>
        <p:nvSpPr>
          <p:cNvPr id="224" name="Text 12"/>
          <p:cNvSpPr txBox="1"/>
          <p:nvPr/>
        </p:nvSpPr>
        <p:spPr>
          <a:xfrm>
            <a:off x="2295144" y="1664716"/>
            <a:ext cx="1426465"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200">
                <a:solidFill>
                  <a:srgbClr val="9A9A9A"/>
                </a:solidFill>
                <a:latin typeface="Consolas"/>
                <a:ea typeface="Consolas"/>
                <a:cs typeface="Consolas"/>
                <a:sym typeface="Consolas"/>
              </a:defRPr>
            </a:lvl1pPr>
          </a:lstStyle>
          <a:p>
            <a:r>
              <a:t>PHASE 02</a:t>
            </a:r>
          </a:p>
        </p:txBody>
      </p:sp>
      <p:sp>
        <p:nvSpPr>
          <p:cNvPr id="225" name="Text 13"/>
          <p:cNvSpPr txBox="1"/>
          <p:nvPr/>
        </p:nvSpPr>
        <p:spPr>
          <a:xfrm>
            <a:off x="2295144" y="2003868"/>
            <a:ext cx="1426465" cy="417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b="1">
                <a:solidFill>
                  <a:srgbClr val="0A0A0A"/>
                </a:solidFill>
              </a:defRPr>
            </a:lvl1pPr>
          </a:lstStyle>
          <a:p>
            <a:r>
              <a:t>Camera &amp; tracking baseline</a:t>
            </a:r>
          </a:p>
        </p:txBody>
      </p:sp>
      <p:sp>
        <p:nvSpPr>
          <p:cNvPr id="226" name="Text 14"/>
          <p:cNvSpPr txBox="1"/>
          <p:nvPr/>
        </p:nvSpPr>
        <p:spPr>
          <a:xfrm>
            <a:off x="2295144" y="2615183"/>
            <a:ext cx="1426465" cy="6295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100">
                <a:solidFill>
                  <a:srgbClr val="6B6B6B"/>
                </a:solidFill>
              </a:defRPr>
            </a:lvl1pPr>
          </a:lstStyle>
          <a:p>
            <a:r>
              <a:t>Live video feed with hand landmarks, palm position, and basic object tracking.</a:t>
            </a:r>
          </a:p>
        </p:txBody>
      </p:sp>
      <p:sp>
        <p:nvSpPr>
          <p:cNvPr id="227" name="Shape 15"/>
          <p:cNvSpPr/>
          <p:nvPr/>
        </p:nvSpPr>
        <p:spPr>
          <a:xfrm flipH="1">
            <a:off x="5385815" y="1426463"/>
            <a:ext cx="1" cy="3273554"/>
          </a:xfrm>
          <a:prstGeom prst="line">
            <a:avLst/>
          </a:prstGeom>
          <a:ln>
            <a:solidFill>
              <a:srgbClr val="E6E6E6"/>
            </a:solidFill>
          </a:ln>
        </p:spPr>
        <p:txBody>
          <a:bodyPr lIns="45719" rIns="45719"/>
          <a:lstStyle/>
          <a:p>
            <a:endParaRPr/>
          </a:p>
        </p:txBody>
      </p:sp>
      <p:sp>
        <p:nvSpPr>
          <p:cNvPr id="228" name="Shape 16"/>
          <p:cNvSpPr/>
          <p:nvPr/>
        </p:nvSpPr>
        <p:spPr>
          <a:xfrm>
            <a:off x="3758184" y="1426463"/>
            <a:ext cx="301753" cy="36577"/>
          </a:xfrm>
          <a:prstGeom prst="rect">
            <a:avLst/>
          </a:prstGeom>
          <a:solidFill>
            <a:srgbClr val="0A0A0A"/>
          </a:solidFill>
          <a:ln w="12700">
            <a:solidFill>
              <a:srgbClr val="0A0A0A"/>
            </a:solidFill>
          </a:ln>
        </p:spPr>
        <p:txBody>
          <a:bodyPr lIns="45719" rIns="45719"/>
          <a:lstStyle/>
          <a:p>
            <a:endParaRPr/>
          </a:p>
        </p:txBody>
      </p:sp>
      <p:sp>
        <p:nvSpPr>
          <p:cNvPr id="229" name="Text 17"/>
          <p:cNvSpPr txBox="1"/>
          <p:nvPr/>
        </p:nvSpPr>
        <p:spPr>
          <a:xfrm>
            <a:off x="3922776" y="1664716"/>
            <a:ext cx="1426465"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200">
                <a:solidFill>
                  <a:srgbClr val="9A9A9A"/>
                </a:solidFill>
                <a:latin typeface="Consolas"/>
                <a:ea typeface="Consolas"/>
                <a:cs typeface="Consolas"/>
                <a:sym typeface="Consolas"/>
              </a:defRPr>
            </a:lvl1pPr>
          </a:lstStyle>
          <a:p>
            <a:r>
              <a:t>PHASE 03</a:t>
            </a:r>
          </a:p>
        </p:txBody>
      </p:sp>
      <p:sp>
        <p:nvSpPr>
          <p:cNvPr id="230" name="Text 18"/>
          <p:cNvSpPr txBox="1"/>
          <p:nvPr/>
        </p:nvSpPr>
        <p:spPr>
          <a:xfrm>
            <a:off x="3922776" y="2003868"/>
            <a:ext cx="1426465" cy="417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b="1">
                <a:solidFill>
                  <a:srgbClr val="0A0A0A"/>
                </a:solidFill>
              </a:defRPr>
            </a:lvl1pPr>
          </a:lstStyle>
          <a:p>
            <a:r>
              <a:t>Gesture-to-intent mapping</a:t>
            </a:r>
          </a:p>
        </p:txBody>
      </p:sp>
      <p:sp>
        <p:nvSpPr>
          <p:cNvPr id="231" name="Text 19"/>
          <p:cNvSpPr txBox="1"/>
          <p:nvPr/>
        </p:nvSpPr>
        <p:spPr>
          <a:xfrm>
            <a:off x="3922776" y="2615183"/>
            <a:ext cx="1426465" cy="7946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100">
                <a:solidFill>
                  <a:srgbClr val="6B6B6B"/>
                </a:solidFill>
              </a:defRPr>
            </a:lvl1pPr>
          </a:lstStyle>
          <a:p>
            <a:r>
              <a:t>Reliable mapping for open, closed, pinch/select, point, wave, follow, stop, plus game mode.</a:t>
            </a:r>
          </a:p>
        </p:txBody>
      </p:sp>
      <p:sp>
        <p:nvSpPr>
          <p:cNvPr id="232" name="Shape 20"/>
          <p:cNvSpPr/>
          <p:nvPr/>
        </p:nvSpPr>
        <p:spPr>
          <a:xfrm>
            <a:off x="7013447" y="1426463"/>
            <a:ext cx="1" cy="3273554"/>
          </a:xfrm>
          <a:prstGeom prst="line">
            <a:avLst/>
          </a:prstGeom>
          <a:ln>
            <a:solidFill>
              <a:srgbClr val="E6E6E6"/>
            </a:solidFill>
          </a:ln>
        </p:spPr>
        <p:txBody>
          <a:bodyPr lIns="45719" rIns="45719"/>
          <a:lstStyle/>
          <a:p>
            <a:endParaRPr/>
          </a:p>
        </p:txBody>
      </p:sp>
      <p:sp>
        <p:nvSpPr>
          <p:cNvPr id="233" name="Shape 21"/>
          <p:cNvSpPr/>
          <p:nvPr/>
        </p:nvSpPr>
        <p:spPr>
          <a:xfrm>
            <a:off x="5385815" y="1426463"/>
            <a:ext cx="301753" cy="36577"/>
          </a:xfrm>
          <a:prstGeom prst="rect">
            <a:avLst/>
          </a:prstGeom>
          <a:solidFill>
            <a:srgbClr val="0A0A0A"/>
          </a:solidFill>
          <a:ln w="12700">
            <a:solidFill>
              <a:srgbClr val="0A0A0A"/>
            </a:solidFill>
          </a:ln>
        </p:spPr>
        <p:txBody>
          <a:bodyPr lIns="45719" rIns="45719"/>
          <a:lstStyle/>
          <a:p>
            <a:endParaRPr/>
          </a:p>
        </p:txBody>
      </p:sp>
      <p:sp>
        <p:nvSpPr>
          <p:cNvPr id="234" name="Text 22"/>
          <p:cNvSpPr txBox="1"/>
          <p:nvPr/>
        </p:nvSpPr>
        <p:spPr>
          <a:xfrm>
            <a:off x="5550408" y="1664716"/>
            <a:ext cx="1426465"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200">
                <a:solidFill>
                  <a:srgbClr val="9A9A9A"/>
                </a:solidFill>
                <a:latin typeface="Consolas"/>
                <a:ea typeface="Consolas"/>
                <a:cs typeface="Consolas"/>
                <a:sym typeface="Consolas"/>
              </a:defRPr>
            </a:lvl1pPr>
          </a:lstStyle>
          <a:p>
            <a:r>
              <a:t>PHASE 04</a:t>
            </a:r>
          </a:p>
        </p:txBody>
      </p:sp>
      <p:sp>
        <p:nvSpPr>
          <p:cNvPr id="235" name="Text 23"/>
          <p:cNvSpPr txBox="1"/>
          <p:nvPr/>
        </p:nvSpPr>
        <p:spPr>
          <a:xfrm>
            <a:off x="5550408" y="2118168"/>
            <a:ext cx="1426465" cy="189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b="1">
                <a:solidFill>
                  <a:srgbClr val="0A0A0A"/>
                </a:solidFill>
              </a:defRPr>
            </a:lvl1pPr>
          </a:lstStyle>
          <a:p>
            <a:r>
              <a:t>Motion primitives</a:t>
            </a:r>
          </a:p>
        </p:txBody>
      </p:sp>
      <p:sp>
        <p:nvSpPr>
          <p:cNvPr id="236" name="Text 24"/>
          <p:cNvSpPr txBox="1"/>
          <p:nvPr/>
        </p:nvSpPr>
        <p:spPr>
          <a:xfrm>
            <a:off x="5550408" y="2615183"/>
            <a:ext cx="1426465" cy="6295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100">
                <a:solidFill>
                  <a:srgbClr val="6B6B6B"/>
                </a:solidFill>
              </a:defRPr>
            </a:lvl1pPr>
          </a:lstStyle>
          <a:p>
            <a:r>
              <a:t>Reusable actions: move, open, close, point, hold, release, wave, return to neutral.</a:t>
            </a:r>
          </a:p>
        </p:txBody>
      </p:sp>
      <p:sp>
        <p:nvSpPr>
          <p:cNvPr id="237" name="Shape 25"/>
          <p:cNvSpPr/>
          <p:nvPr/>
        </p:nvSpPr>
        <p:spPr>
          <a:xfrm>
            <a:off x="7013447" y="1426463"/>
            <a:ext cx="301753" cy="36577"/>
          </a:xfrm>
          <a:prstGeom prst="rect">
            <a:avLst/>
          </a:prstGeom>
          <a:solidFill>
            <a:srgbClr val="0A0A0A"/>
          </a:solidFill>
          <a:ln w="12700">
            <a:solidFill>
              <a:srgbClr val="0A0A0A"/>
            </a:solidFill>
          </a:ln>
        </p:spPr>
        <p:txBody>
          <a:bodyPr lIns="45719" rIns="45719"/>
          <a:lstStyle/>
          <a:p>
            <a:endParaRPr/>
          </a:p>
        </p:txBody>
      </p:sp>
      <p:sp>
        <p:nvSpPr>
          <p:cNvPr id="238" name="Text 26"/>
          <p:cNvSpPr txBox="1"/>
          <p:nvPr/>
        </p:nvSpPr>
        <p:spPr>
          <a:xfrm>
            <a:off x="7178040" y="1664716"/>
            <a:ext cx="1426465"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200">
                <a:solidFill>
                  <a:srgbClr val="9A9A9A"/>
                </a:solidFill>
                <a:latin typeface="Consolas"/>
                <a:ea typeface="Consolas"/>
                <a:cs typeface="Consolas"/>
                <a:sym typeface="Consolas"/>
              </a:defRPr>
            </a:lvl1pPr>
          </a:lstStyle>
          <a:p>
            <a:r>
              <a:t>PHASE 05</a:t>
            </a:r>
          </a:p>
        </p:txBody>
      </p:sp>
      <p:sp>
        <p:nvSpPr>
          <p:cNvPr id="239" name="Text 27"/>
          <p:cNvSpPr txBox="1"/>
          <p:nvPr/>
        </p:nvSpPr>
        <p:spPr>
          <a:xfrm>
            <a:off x="7178040" y="2118168"/>
            <a:ext cx="1426465" cy="189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b="1">
                <a:solidFill>
                  <a:srgbClr val="0A0A0A"/>
                </a:solidFill>
              </a:defRPr>
            </a:lvl1pPr>
          </a:lstStyle>
          <a:p>
            <a:r>
              <a:t>Integrated demo</a:t>
            </a:r>
          </a:p>
        </p:txBody>
      </p:sp>
      <p:sp>
        <p:nvSpPr>
          <p:cNvPr id="240" name="Text 28"/>
          <p:cNvSpPr txBox="1"/>
          <p:nvPr/>
        </p:nvSpPr>
        <p:spPr>
          <a:xfrm>
            <a:off x="7178040" y="2615183"/>
            <a:ext cx="1426465" cy="6295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100">
                <a:solidFill>
                  <a:srgbClr val="6B6B6B"/>
                </a:solidFill>
              </a:defRPr>
            </a:lvl1pPr>
          </a:lstStyle>
          <a:p>
            <a:r>
              <a:t>Live perception overlay, robot response, remote override, prerecorded backup video.</a:t>
            </a:r>
          </a:p>
        </p:txBody>
      </p:sp>
      <p:sp>
        <p:nvSpPr>
          <p:cNvPr id="241" name="Shape 29"/>
          <p:cNvSpPr/>
          <p:nvPr/>
        </p:nvSpPr>
        <p:spPr>
          <a:xfrm>
            <a:off x="502919" y="4882896"/>
            <a:ext cx="73153" cy="73153"/>
          </a:xfrm>
          <a:prstGeom prst="rect">
            <a:avLst/>
          </a:prstGeom>
          <a:solidFill>
            <a:srgbClr val="0A0A0A"/>
          </a:solidFill>
          <a:ln w="12700">
            <a:solidFill>
              <a:srgbClr val="0A0A0A"/>
            </a:solidFill>
          </a:ln>
        </p:spPr>
        <p:txBody>
          <a:bodyPr lIns="45719" rIns="45719"/>
          <a:lstStyle/>
          <a:p>
            <a:endParaRPr/>
          </a:p>
        </p:txBody>
      </p:sp>
      <p:sp>
        <p:nvSpPr>
          <p:cNvPr id="242" name="Text 30"/>
          <p:cNvSpPr txBox="1"/>
          <p:nvPr/>
        </p:nvSpPr>
        <p:spPr>
          <a:xfrm>
            <a:off x="658368" y="4883404"/>
            <a:ext cx="27432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spc="150">
                <a:solidFill>
                  <a:srgbClr val="9A9A9A"/>
                </a:solidFill>
                <a:latin typeface="Consolas"/>
                <a:ea typeface="Consolas"/>
                <a:cs typeface="Consolas"/>
                <a:sym typeface="Consolas"/>
              </a:defRPr>
            </a:lvl1pPr>
          </a:lstStyle>
          <a:p>
            <a:r>
              <a:t>Vision-Guided Robotic Arm</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Text 0"/>
          <p:cNvSpPr txBox="1"/>
          <p:nvPr/>
        </p:nvSpPr>
        <p:spPr>
          <a:xfrm>
            <a:off x="502919" y="398272"/>
            <a:ext cx="6347767"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180">
                <a:solidFill>
                  <a:srgbClr val="6B6B6B"/>
                </a:solidFill>
                <a:latin typeface="Consolas"/>
                <a:ea typeface="Consolas"/>
                <a:cs typeface="Consolas"/>
                <a:sym typeface="Consolas"/>
              </a:defRPr>
            </a:lvl1pPr>
          </a:lstStyle>
          <a:p>
            <a:r>
              <a:t>■  09  /  RISKS &amp; MITIGATION</a:t>
            </a:r>
          </a:p>
        </p:txBody>
      </p:sp>
      <p:sp>
        <p:nvSpPr>
          <p:cNvPr id="245" name="Text 1"/>
          <p:cNvSpPr txBox="1"/>
          <p:nvPr/>
        </p:nvSpPr>
        <p:spPr>
          <a:xfrm>
            <a:off x="502920" y="398272"/>
            <a:ext cx="813816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800" spc="100">
                <a:solidFill>
                  <a:srgbClr val="9A9A9A"/>
                </a:solidFill>
                <a:latin typeface="Consolas"/>
                <a:ea typeface="Consolas"/>
                <a:cs typeface="Consolas"/>
                <a:sym typeface="Consolas"/>
              </a:defRPr>
            </a:lvl1pPr>
          </a:lstStyle>
          <a:p>
            <a:r>
              <a:t>11 / 12</a:t>
            </a:r>
          </a:p>
        </p:txBody>
      </p:sp>
      <p:sp>
        <p:nvSpPr>
          <p:cNvPr id="246" name="Shape 2"/>
          <p:cNvSpPr/>
          <p:nvPr/>
        </p:nvSpPr>
        <p:spPr>
          <a:xfrm>
            <a:off x="502920" y="704087"/>
            <a:ext cx="8138160" cy="1"/>
          </a:xfrm>
          <a:prstGeom prst="line">
            <a:avLst/>
          </a:prstGeom>
          <a:ln>
            <a:solidFill>
              <a:srgbClr val="E6E6E6"/>
            </a:solidFill>
          </a:ln>
        </p:spPr>
        <p:txBody>
          <a:bodyPr lIns="45719" rIns="45719"/>
          <a:lstStyle/>
          <a:p>
            <a:endParaRPr/>
          </a:p>
        </p:txBody>
      </p:sp>
      <p:sp>
        <p:nvSpPr>
          <p:cNvPr id="247" name="Text 3"/>
          <p:cNvSpPr txBox="1"/>
          <p:nvPr/>
        </p:nvSpPr>
        <p:spPr>
          <a:xfrm>
            <a:off x="502920" y="849274"/>
            <a:ext cx="8138160" cy="8617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2800">
                <a:solidFill>
                  <a:srgbClr val="0A0A0A"/>
                </a:solidFill>
              </a:defRPr>
            </a:pPr>
            <a:r>
              <a:rPr dirty="0"/>
              <a:t>Where it could go wrong </a:t>
            </a:r>
          </a:p>
          <a:p>
            <a:pPr>
              <a:defRPr sz="2800">
                <a:solidFill>
                  <a:srgbClr val="0A0A0A"/>
                </a:solidFill>
              </a:defRPr>
            </a:pPr>
            <a:r>
              <a:rPr dirty="0"/>
              <a:t>and how </a:t>
            </a:r>
            <a:r>
              <a:rPr dirty="0" smtClean="0"/>
              <a:t>we</a:t>
            </a:r>
            <a:r>
              <a:rPr lang="en-US" dirty="0" smtClean="0"/>
              <a:t> can</a:t>
            </a:r>
            <a:r>
              <a:rPr dirty="0" smtClean="0"/>
              <a:t> </a:t>
            </a:r>
            <a:r>
              <a:rPr dirty="0"/>
              <a:t>catch it.</a:t>
            </a:r>
          </a:p>
        </p:txBody>
      </p:sp>
      <p:sp>
        <p:nvSpPr>
          <p:cNvPr id="248" name="Text 4"/>
          <p:cNvSpPr txBox="1"/>
          <p:nvPr/>
        </p:nvSpPr>
        <p:spPr>
          <a:xfrm>
            <a:off x="502919" y="1916176"/>
            <a:ext cx="3108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200">
                <a:solidFill>
                  <a:srgbClr val="6B6B6B"/>
                </a:solidFill>
                <a:latin typeface="Consolas"/>
                <a:ea typeface="Consolas"/>
                <a:cs typeface="Consolas"/>
                <a:sym typeface="Consolas"/>
              </a:defRPr>
            </a:lvl1pPr>
          </a:lstStyle>
          <a:p>
            <a:r>
              <a:t>Risk</a:t>
            </a:r>
          </a:p>
        </p:txBody>
      </p:sp>
      <p:sp>
        <p:nvSpPr>
          <p:cNvPr id="249" name="Text 5"/>
          <p:cNvSpPr txBox="1"/>
          <p:nvPr/>
        </p:nvSpPr>
        <p:spPr>
          <a:xfrm>
            <a:off x="3886200" y="1916176"/>
            <a:ext cx="475488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200">
                <a:solidFill>
                  <a:srgbClr val="6B6B6B"/>
                </a:solidFill>
                <a:latin typeface="Consolas"/>
                <a:ea typeface="Consolas"/>
                <a:cs typeface="Consolas"/>
                <a:sym typeface="Consolas"/>
              </a:defRPr>
            </a:lvl1pPr>
          </a:lstStyle>
          <a:p>
            <a:r>
              <a:t>Mitigation</a:t>
            </a:r>
          </a:p>
        </p:txBody>
      </p:sp>
      <p:sp>
        <p:nvSpPr>
          <p:cNvPr id="250" name="Shape 6"/>
          <p:cNvSpPr/>
          <p:nvPr/>
        </p:nvSpPr>
        <p:spPr>
          <a:xfrm>
            <a:off x="502920" y="2139695"/>
            <a:ext cx="8138160" cy="1"/>
          </a:xfrm>
          <a:prstGeom prst="line">
            <a:avLst/>
          </a:prstGeom>
          <a:ln>
            <a:solidFill>
              <a:srgbClr val="0A0A0A"/>
            </a:solidFill>
          </a:ln>
        </p:spPr>
        <p:txBody>
          <a:bodyPr lIns="45719" rIns="45719"/>
          <a:lstStyle/>
          <a:p>
            <a:endParaRPr/>
          </a:p>
        </p:txBody>
      </p:sp>
      <p:sp>
        <p:nvSpPr>
          <p:cNvPr id="251" name="Shape 7"/>
          <p:cNvSpPr/>
          <p:nvPr/>
        </p:nvSpPr>
        <p:spPr>
          <a:xfrm>
            <a:off x="502920" y="1810511"/>
            <a:ext cx="8138160" cy="1"/>
          </a:xfrm>
          <a:prstGeom prst="line">
            <a:avLst/>
          </a:prstGeom>
          <a:ln>
            <a:solidFill>
              <a:srgbClr val="0A0A0A"/>
            </a:solidFill>
          </a:ln>
        </p:spPr>
        <p:txBody>
          <a:bodyPr lIns="45719" rIns="45719"/>
          <a:lstStyle/>
          <a:p>
            <a:endParaRPr/>
          </a:p>
        </p:txBody>
      </p:sp>
      <p:sp>
        <p:nvSpPr>
          <p:cNvPr id="252" name="Text 8"/>
          <p:cNvSpPr txBox="1"/>
          <p:nvPr/>
        </p:nvSpPr>
        <p:spPr>
          <a:xfrm>
            <a:off x="502919" y="2299007"/>
            <a:ext cx="3108962"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a:solidFill>
                  <a:srgbClr val="0A0A0A"/>
                </a:solidFill>
              </a:defRPr>
            </a:lvl1pPr>
          </a:lstStyle>
          <a:p>
            <a:r>
              <a:t>Lighting and camera placement</a:t>
            </a:r>
          </a:p>
        </p:txBody>
      </p:sp>
      <p:sp>
        <p:nvSpPr>
          <p:cNvPr id="253" name="Text 9"/>
          <p:cNvSpPr txBox="1"/>
          <p:nvPr/>
        </p:nvSpPr>
        <p:spPr>
          <a:xfrm>
            <a:off x="3886200" y="2299007"/>
            <a:ext cx="4754880"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B6B6B"/>
                </a:solidFill>
              </a:defRPr>
            </a:lvl1pPr>
          </a:lstStyle>
          <a:p>
            <a:r>
              <a:t>Calibrate the camera setup in the demo room and use a stable mount.</a:t>
            </a:r>
          </a:p>
        </p:txBody>
      </p:sp>
      <p:sp>
        <p:nvSpPr>
          <p:cNvPr id="254" name="Shape 10"/>
          <p:cNvSpPr/>
          <p:nvPr/>
        </p:nvSpPr>
        <p:spPr>
          <a:xfrm>
            <a:off x="502920" y="2615183"/>
            <a:ext cx="8138160" cy="1"/>
          </a:xfrm>
          <a:prstGeom prst="line">
            <a:avLst/>
          </a:prstGeom>
          <a:ln>
            <a:solidFill>
              <a:srgbClr val="E6E6E6"/>
            </a:solidFill>
          </a:ln>
        </p:spPr>
        <p:txBody>
          <a:bodyPr lIns="45719" rIns="45719"/>
          <a:lstStyle/>
          <a:p>
            <a:endParaRPr/>
          </a:p>
        </p:txBody>
      </p:sp>
      <p:sp>
        <p:nvSpPr>
          <p:cNvPr id="255" name="Text 11"/>
          <p:cNvSpPr txBox="1"/>
          <p:nvPr/>
        </p:nvSpPr>
        <p:spPr>
          <a:xfrm>
            <a:off x="502919" y="2774495"/>
            <a:ext cx="3108962"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a:solidFill>
                  <a:srgbClr val="0A0A0A"/>
                </a:solidFill>
              </a:defRPr>
            </a:lvl1pPr>
          </a:lstStyle>
          <a:p>
            <a:r>
              <a:t>Ambiguous hand input</a:t>
            </a:r>
          </a:p>
        </p:txBody>
      </p:sp>
      <p:sp>
        <p:nvSpPr>
          <p:cNvPr id="256" name="Text 12"/>
          <p:cNvSpPr txBox="1"/>
          <p:nvPr/>
        </p:nvSpPr>
        <p:spPr>
          <a:xfrm>
            <a:off x="3886200" y="2679245"/>
            <a:ext cx="4754880" cy="3473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B6B6B"/>
                </a:solidFill>
              </a:defRPr>
            </a:lvl1pPr>
          </a:lstStyle>
          <a:p>
            <a:r>
              <a:t>Use a confidence gate and neutral fallback rather than forcing a classification.</a:t>
            </a:r>
          </a:p>
        </p:txBody>
      </p:sp>
      <p:sp>
        <p:nvSpPr>
          <p:cNvPr id="257" name="Shape 13"/>
          <p:cNvSpPr/>
          <p:nvPr/>
        </p:nvSpPr>
        <p:spPr>
          <a:xfrm>
            <a:off x="502920" y="3090672"/>
            <a:ext cx="8138160" cy="1"/>
          </a:xfrm>
          <a:prstGeom prst="line">
            <a:avLst/>
          </a:prstGeom>
          <a:ln>
            <a:solidFill>
              <a:srgbClr val="E6E6E6"/>
            </a:solidFill>
          </a:ln>
        </p:spPr>
        <p:txBody>
          <a:bodyPr lIns="45719" rIns="45719"/>
          <a:lstStyle/>
          <a:p>
            <a:endParaRPr/>
          </a:p>
        </p:txBody>
      </p:sp>
      <p:sp>
        <p:nvSpPr>
          <p:cNvPr id="258" name="Text 14"/>
          <p:cNvSpPr txBox="1"/>
          <p:nvPr/>
        </p:nvSpPr>
        <p:spPr>
          <a:xfrm>
            <a:off x="502919" y="3249983"/>
            <a:ext cx="3108962"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a:solidFill>
                  <a:srgbClr val="0A0A0A"/>
                </a:solidFill>
              </a:defRPr>
            </a:lvl1pPr>
          </a:lstStyle>
          <a:p>
            <a:r>
              <a:t>Mechanical inconsistency</a:t>
            </a:r>
          </a:p>
        </p:txBody>
      </p:sp>
      <p:sp>
        <p:nvSpPr>
          <p:cNvPr id="259" name="Text 15"/>
          <p:cNvSpPr txBox="1"/>
          <p:nvPr/>
        </p:nvSpPr>
        <p:spPr>
          <a:xfrm>
            <a:off x="3886200" y="3249983"/>
            <a:ext cx="4754880"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B6B6B"/>
                </a:solidFill>
              </a:defRPr>
            </a:lvl1pPr>
          </a:lstStyle>
          <a:p>
            <a:r>
              <a:t>Calibrate poses and use repeatable primitives instead of one-off commands.</a:t>
            </a:r>
          </a:p>
        </p:txBody>
      </p:sp>
      <p:sp>
        <p:nvSpPr>
          <p:cNvPr id="260" name="Shape 16"/>
          <p:cNvSpPr/>
          <p:nvPr/>
        </p:nvSpPr>
        <p:spPr>
          <a:xfrm>
            <a:off x="502920" y="3566159"/>
            <a:ext cx="8138160" cy="1"/>
          </a:xfrm>
          <a:prstGeom prst="line">
            <a:avLst/>
          </a:prstGeom>
          <a:ln>
            <a:solidFill>
              <a:srgbClr val="E6E6E6"/>
            </a:solidFill>
          </a:ln>
        </p:spPr>
        <p:txBody>
          <a:bodyPr lIns="45719" rIns="45719"/>
          <a:lstStyle/>
          <a:p>
            <a:endParaRPr/>
          </a:p>
        </p:txBody>
      </p:sp>
      <p:sp>
        <p:nvSpPr>
          <p:cNvPr id="261" name="Text 17"/>
          <p:cNvSpPr txBox="1"/>
          <p:nvPr/>
        </p:nvSpPr>
        <p:spPr>
          <a:xfrm>
            <a:off x="502919" y="3725471"/>
            <a:ext cx="3108962"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a:solidFill>
                  <a:srgbClr val="0A0A0A"/>
                </a:solidFill>
              </a:defRPr>
            </a:lvl1pPr>
          </a:lstStyle>
          <a:p>
            <a:r>
              <a:t>Robot delay / communication</a:t>
            </a:r>
          </a:p>
        </p:txBody>
      </p:sp>
      <p:sp>
        <p:nvSpPr>
          <p:cNvPr id="262" name="Text 18"/>
          <p:cNvSpPr txBox="1"/>
          <p:nvPr/>
        </p:nvSpPr>
        <p:spPr>
          <a:xfrm>
            <a:off x="3886200" y="3630221"/>
            <a:ext cx="4754880" cy="3473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B6B6B"/>
                </a:solidFill>
              </a:defRPr>
            </a:lvl1pPr>
          </a:lstStyle>
          <a:p>
            <a:r>
              <a:t>Measure the full perception-to-motion loop; keep a manual command path ready.</a:t>
            </a:r>
          </a:p>
        </p:txBody>
      </p:sp>
      <p:sp>
        <p:nvSpPr>
          <p:cNvPr id="263" name="Shape 19"/>
          <p:cNvSpPr/>
          <p:nvPr/>
        </p:nvSpPr>
        <p:spPr>
          <a:xfrm>
            <a:off x="502920" y="4041647"/>
            <a:ext cx="8138160" cy="1"/>
          </a:xfrm>
          <a:prstGeom prst="line">
            <a:avLst/>
          </a:prstGeom>
          <a:ln>
            <a:solidFill>
              <a:srgbClr val="E6E6E6"/>
            </a:solidFill>
          </a:ln>
        </p:spPr>
        <p:txBody>
          <a:bodyPr lIns="45719" rIns="45719"/>
          <a:lstStyle/>
          <a:p>
            <a:endParaRPr/>
          </a:p>
        </p:txBody>
      </p:sp>
      <p:sp>
        <p:nvSpPr>
          <p:cNvPr id="264" name="Text 20"/>
          <p:cNvSpPr txBox="1"/>
          <p:nvPr/>
        </p:nvSpPr>
        <p:spPr>
          <a:xfrm>
            <a:off x="502919" y="4200959"/>
            <a:ext cx="3108962"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a:solidFill>
                  <a:srgbClr val="0A0A0A"/>
                </a:solidFill>
              </a:defRPr>
            </a:lvl1pPr>
          </a:lstStyle>
          <a:p>
            <a:r>
              <a:t>Live-demo failure</a:t>
            </a:r>
          </a:p>
        </p:txBody>
      </p:sp>
      <p:sp>
        <p:nvSpPr>
          <p:cNvPr id="265" name="Text 21"/>
          <p:cNvSpPr txBox="1"/>
          <p:nvPr/>
        </p:nvSpPr>
        <p:spPr>
          <a:xfrm>
            <a:off x="3886200" y="4105709"/>
            <a:ext cx="4754880" cy="3473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B6B6B"/>
                </a:solidFill>
              </a:defRPr>
            </a:lvl1pPr>
          </a:lstStyle>
          <a:p>
            <a:r>
              <a:t>Prepare a build/demo video and a live CV overlay so the project stays understandable.</a:t>
            </a:r>
          </a:p>
        </p:txBody>
      </p:sp>
      <p:sp>
        <p:nvSpPr>
          <p:cNvPr id="266" name="Shape 22"/>
          <p:cNvSpPr/>
          <p:nvPr/>
        </p:nvSpPr>
        <p:spPr>
          <a:xfrm>
            <a:off x="502920" y="4517135"/>
            <a:ext cx="8138160" cy="1"/>
          </a:xfrm>
          <a:prstGeom prst="line">
            <a:avLst/>
          </a:prstGeom>
          <a:ln>
            <a:solidFill>
              <a:srgbClr val="E6E6E6"/>
            </a:solidFill>
          </a:ln>
        </p:spPr>
        <p:txBody>
          <a:bodyPr lIns="45719" rIns="45719"/>
          <a:lstStyle/>
          <a:p>
            <a:endParaRPr/>
          </a:p>
        </p:txBody>
      </p:sp>
      <p:sp>
        <p:nvSpPr>
          <p:cNvPr id="267" name="Shape 23"/>
          <p:cNvSpPr/>
          <p:nvPr/>
        </p:nvSpPr>
        <p:spPr>
          <a:xfrm>
            <a:off x="502919" y="4882896"/>
            <a:ext cx="73153" cy="73153"/>
          </a:xfrm>
          <a:prstGeom prst="rect">
            <a:avLst/>
          </a:prstGeom>
          <a:solidFill>
            <a:srgbClr val="0A0A0A"/>
          </a:solidFill>
          <a:ln w="12700">
            <a:solidFill>
              <a:srgbClr val="0A0A0A"/>
            </a:solidFill>
          </a:ln>
        </p:spPr>
        <p:txBody>
          <a:bodyPr lIns="45719" rIns="45719"/>
          <a:lstStyle/>
          <a:p>
            <a:endParaRPr/>
          </a:p>
        </p:txBody>
      </p:sp>
      <p:sp>
        <p:nvSpPr>
          <p:cNvPr id="268" name="Text 24"/>
          <p:cNvSpPr txBox="1"/>
          <p:nvPr/>
        </p:nvSpPr>
        <p:spPr>
          <a:xfrm>
            <a:off x="658368" y="4883404"/>
            <a:ext cx="27432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spc="150">
                <a:solidFill>
                  <a:srgbClr val="9A9A9A"/>
                </a:solidFill>
                <a:latin typeface="Consolas"/>
                <a:ea typeface="Consolas"/>
                <a:cs typeface="Consolas"/>
                <a:sym typeface="Consolas"/>
              </a:defRPr>
            </a:lvl1pPr>
          </a:lstStyle>
          <a:p>
            <a:r>
              <a:t>Vision-Guided Robotic Arm</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Text 0"/>
          <p:cNvSpPr txBox="1"/>
          <p:nvPr/>
        </p:nvSpPr>
        <p:spPr>
          <a:xfrm>
            <a:off x="502919" y="398272"/>
            <a:ext cx="6347767"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180">
                <a:solidFill>
                  <a:srgbClr val="6B6B6B"/>
                </a:solidFill>
                <a:latin typeface="Consolas"/>
                <a:ea typeface="Consolas"/>
                <a:cs typeface="Consolas"/>
                <a:sym typeface="Consolas"/>
              </a:defRPr>
            </a:lvl1pPr>
          </a:lstStyle>
          <a:p>
            <a:r>
              <a:t>■  10  /  EXPECTED OUTCOME</a:t>
            </a:r>
          </a:p>
        </p:txBody>
      </p:sp>
      <p:sp>
        <p:nvSpPr>
          <p:cNvPr id="271" name="Text 1"/>
          <p:cNvSpPr txBox="1"/>
          <p:nvPr/>
        </p:nvSpPr>
        <p:spPr>
          <a:xfrm>
            <a:off x="502920" y="398272"/>
            <a:ext cx="813816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800" spc="100">
                <a:solidFill>
                  <a:srgbClr val="9A9A9A"/>
                </a:solidFill>
                <a:latin typeface="Consolas"/>
                <a:ea typeface="Consolas"/>
                <a:cs typeface="Consolas"/>
                <a:sym typeface="Consolas"/>
              </a:defRPr>
            </a:lvl1pPr>
          </a:lstStyle>
          <a:p>
            <a:r>
              <a:t>12 / 12</a:t>
            </a:r>
          </a:p>
        </p:txBody>
      </p:sp>
      <p:sp>
        <p:nvSpPr>
          <p:cNvPr id="272" name="Shape 2"/>
          <p:cNvSpPr/>
          <p:nvPr/>
        </p:nvSpPr>
        <p:spPr>
          <a:xfrm>
            <a:off x="502920" y="704087"/>
            <a:ext cx="8138160" cy="1"/>
          </a:xfrm>
          <a:prstGeom prst="line">
            <a:avLst/>
          </a:prstGeom>
          <a:ln>
            <a:solidFill>
              <a:srgbClr val="E6E6E6"/>
            </a:solidFill>
          </a:ln>
        </p:spPr>
        <p:txBody>
          <a:bodyPr lIns="45719" rIns="45719"/>
          <a:lstStyle/>
          <a:p>
            <a:endParaRPr/>
          </a:p>
        </p:txBody>
      </p:sp>
      <p:sp>
        <p:nvSpPr>
          <p:cNvPr id="273" name="Text 3"/>
          <p:cNvSpPr txBox="1"/>
          <p:nvPr/>
        </p:nvSpPr>
        <p:spPr>
          <a:xfrm>
            <a:off x="502920" y="1057374"/>
            <a:ext cx="4480560" cy="15428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2400">
                <a:solidFill>
                  <a:srgbClr val="0A0A0A"/>
                </a:solidFill>
              </a:defRPr>
            </a:pPr>
            <a:r>
              <a:rPr dirty="0"/>
              <a:t>A working arm platform that reads a person's hand intent from video and converts it into </a:t>
            </a:r>
            <a:r>
              <a:rPr dirty="0">
                <a:solidFill>
                  <a:srgbClr val="2E7D52"/>
                </a:solidFill>
                <a:latin typeface="Consolas"/>
                <a:ea typeface="Consolas"/>
                <a:cs typeface="Consolas"/>
                <a:sym typeface="Consolas"/>
              </a:rPr>
              <a:t>visible physical action</a:t>
            </a:r>
            <a:r>
              <a:rPr dirty="0"/>
              <a:t>.</a:t>
            </a:r>
          </a:p>
        </p:txBody>
      </p:sp>
      <p:sp>
        <p:nvSpPr>
          <p:cNvPr id="274" name="Text 4"/>
          <p:cNvSpPr txBox="1"/>
          <p:nvPr/>
        </p:nvSpPr>
        <p:spPr>
          <a:xfrm>
            <a:off x="5257800" y="905763"/>
            <a:ext cx="3886200"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800" spc="200">
                <a:solidFill>
                  <a:srgbClr val="6B6B6B"/>
                </a:solidFill>
                <a:latin typeface="Consolas"/>
                <a:ea typeface="Consolas"/>
                <a:cs typeface="Consolas"/>
                <a:sym typeface="Consolas"/>
              </a:defRPr>
            </a:lvl1pPr>
          </a:lstStyle>
          <a:p>
            <a:r>
              <a:t>A SUCCESSFUL DEMO SHOWS</a:t>
            </a:r>
          </a:p>
        </p:txBody>
      </p:sp>
      <p:sp>
        <p:nvSpPr>
          <p:cNvPr id="275" name="Shape 5"/>
          <p:cNvSpPr/>
          <p:nvPr/>
        </p:nvSpPr>
        <p:spPr>
          <a:xfrm>
            <a:off x="5257800" y="1143000"/>
            <a:ext cx="3886200" cy="0"/>
          </a:xfrm>
          <a:prstGeom prst="line">
            <a:avLst/>
          </a:prstGeom>
          <a:ln>
            <a:solidFill>
              <a:srgbClr val="0A0A0A"/>
            </a:solidFill>
          </a:ln>
        </p:spPr>
        <p:txBody>
          <a:bodyPr lIns="45719" rIns="45719"/>
          <a:lstStyle/>
          <a:p>
            <a:endParaRPr/>
          </a:p>
        </p:txBody>
      </p:sp>
      <p:sp>
        <p:nvSpPr>
          <p:cNvPr id="276" name="Shape 6"/>
          <p:cNvSpPr/>
          <p:nvPr/>
        </p:nvSpPr>
        <p:spPr>
          <a:xfrm>
            <a:off x="5257800" y="1335024"/>
            <a:ext cx="128016" cy="128017"/>
          </a:xfrm>
          <a:prstGeom prst="rect">
            <a:avLst/>
          </a:prstGeom>
          <a:solidFill>
            <a:srgbClr val="0A0A0A"/>
          </a:solidFill>
          <a:ln w="12700">
            <a:solidFill>
              <a:srgbClr val="0A0A0A"/>
            </a:solidFill>
          </a:ln>
        </p:spPr>
        <p:txBody>
          <a:bodyPr lIns="45719" rIns="45719"/>
          <a:lstStyle/>
          <a:p>
            <a:endParaRPr/>
          </a:p>
        </p:txBody>
      </p:sp>
      <p:sp>
        <p:nvSpPr>
          <p:cNvPr id="277" name="Text 7"/>
          <p:cNvSpPr txBox="1"/>
          <p:nvPr/>
        </p:nvSpPr>
        <p:spPr>
          <a:xfrm>
            <a:off x="5495544" y="1379659"/>
            <a:ext cx="3648456" cy="1667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a:solidFill>
                  <a:srgbClr val="1F1F1F"/>
                </a:solidFill>
              </a:defRPr>
            </a:lvl1pPr>
          </a:lstStyle>
          <a:p>
            <a:r>
              <a:t>Live hand tracking</a:t>
            </a:r>
          </a:p>
        </p:txBody>
      </p:sp>
      <p:sp>
        <p:nvSpPr>
          <p:cNvPr id="278" name="Shape 8"/>
          <p:cNvSpPr/>
          <p:nvPr/>
        </p:nvSpPr>
        <p:spPr>
          <a:xfrm>
            <a:off x="5257800" y="1810511"/>
            <a:ext cx="128016" cy="128017"/>
          </a:xfrm>
          <a:prstGeom prst="rect">
            <a:avLst/>
          </a:prstGeom>
          <a:solidFill>
            <a:srgbClr val="0A0A0A"/>
          </a:solidFill>
          <a:ln w="12700">
            <a:solidFill>
              <a:srgbClr val="0A0A0A"/>
            </a:solidFill>
          </a:ln>
        </p:spPr>
        <p:txBody>
          <a:bodyPr lIns="45719" rIns="45719"/>
          <a:lstStyle/>
          <a:p>
            <a:endParaRPr/>
          </a:p>
        </p:txBody>
      </p:sp>
      <p:sp>
        <p:nvSpPr>
          <p:cNvPr id="279" name="Text 9"/>
          <p:cNvSpPr txBox="1"/>
          <p:nvPr/>
        </p:nvSpPr>
        <p:spPr>
          <a:xfrm>
            <a:off x="5495544" y="1855147"/>
            <a:ext cx="3648456" cy="1667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a:solidFill>
                  <a:srgbClr val="1F1F1F"/>
                </a:solidFill>
              </a:defRPr>
            </a:lvl1pPr>
          </a:lstStyle>
          <a:p>
            <a:r>
              <a:rPr dirty="0"/>
              <a:t>A visible command state</a:t>
            </a:r>
          </a:p>
        </p:txBody>
      </p:sp>
      <p:sp>
        <p:nvSpPr>
          <p:cNvPr id="280" name="Shape 10"/>
          <p:cNvSpPr/>
          <p:nvPr/>
        </p:nvSpPr>
        <p:spPr>
          <a:xfrm>
            <a:off x="5257800" y="2286000"/>
            <a:ext cx="128016" cy="128016"/>
          </a:xfrm>
          <a:prstGeom prst="rect">
            <a:avLst/>
          </a:prstGeom>
          <a:solidFill>
            <a:srgbClr val="0A0A0A"/>
          </a:solidFill>
          <a:ln w="12700">
            <a:solidFill>
              <a:srgbClr val="0A0A0A"/>
            </a:solidFill>
          </a:ln>
        </p:spPr>
        <p:txBody>
          <a:bodyPr lIns="45719" rIns="45719"/>
          <a:lstStyle/>
          <a:p>
            <a:endParaRPr/>
          </a:p>
        </p:txBody>
      </p:sp>
      <p:sp>
        <p:nvSpPr>
          <p:cNvPr id="281" name="Text 11"/>
          <p:cNvSpPr txBox="1"/>
          <p:nvPr/>
        </p:nvSpPr>
        <p:spPr>
          <a:xfrm>
            <a:off x="5495544" y="2330634"/>
            <a:ext cx="3648456" cy="1667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a:solidFill>
                  <a:srgbClr val="1F1F1F"/>
                </a:solidFill>
              </a:defRPr>
            </a:lvl1pPr>
          </a:lstStyle>
          <a:p>
            <a:r>
              <a:t>Calibrated arm movement</a:t>
            </a:r>
          </a:p>
        </p:txBody>
      </p:sp>
      <p:sp>
        <p:nvSpPr>
          <p:cNvPr id="282" name="Shape 12"/>
          <p:cNvSpPr/>
          <p:nvPr/>
        </p:nvSpPr>
        <p:spPr>
          <a:xfrm>
            <a:off x="5257800" y="2761488"/>
            <a:ext cx="128016" cy="128017"/>
          </a:xfrm>
          <a:prstGeom prst="rect">
            <a:avLst/>
          </a:prstGeom>
          <a:solidFill>
            <a:srgbClr val="0A0A0A"/>
          </a:solidFill>
          <a:ln w="12700">
            <a:solidFill>
              <a:srgbClr val="0A0A0A"/>
            </a:solidFill>
          </a:ln>
        </p:spPr>
        <p:txBody>
          <a:bodyPr lIns="45719" rIns="45719"/>
          <a:lstStyle/>
          <a:p>
            <a:endParaRPr/>
          </a:p>
        </p:txBody>
      </p:sp>
      <p:sp>
        <p:nvSpPr>
          <p:cNvPr id="283" name="Text 13"/>
          <p:cNvSpPr txBox="1"/>
          <p:nvPr/>
        </p:nvSpPr>
        <p:spPr>
          <a:xfrm>
            <a:off x="5495544" y="2806122"/>
            <a:ext cx="3648456" cy="1667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a:solidFill>
                  <a:srgbClr val="1F1F1F"/>
                </a:solidFill>
              </a:defRPr>
            </a:lvl1pPr>
          </a:lstStyle>
          <a:p>
            <a:r>
              <a:t>Several distinct interaction behaviors</a:t>
            </a:r>
          </a:p>
        </p:txBody>
      </p:sp>
      <p:sp>
        <p:nvSpPr>
          <p:cNvPr id="284" name="Shape 14"/>
          <p:cNvSpPr/>
          <p:nvPr/>
        </p:nvSpPr>
        <p:spPr>
          <a:xfrm>
            <a:off x="5257800" y="3246120"/>
            <a:ext cx="3886200" cy="1"/>
          </a:xfrm>
          <a:prstGeom prst="line">
            <a:avLst/>
          </a:prstGeom>
          <a:ln>
            <a:solidFill>
              <a:srgbClr val="E6E6E6"/>
            </a:solidFill>
          </a:ln>
        </p:spPr>
        <p:txBody>
          <a:bodyPr lIns="45719" rIns="45719"/>
          <a:lstStyle/>
          <a:p>
            <a:endParaRPr/>
          </a:p>
        </p:txBody>
      </p:sp>
      <p:sp>
        <p:nvSpPr>
          <p:cNvPr id="285" name="Text 15"/>
          <p:cNvSpPr txBox="1"/>
          <p:nvPr/>
        </p:nvSpPr>
        <p:spPr>
          <a:xfrm>
            <a:off x="5257800" y="3509510"/>
            <a:ext cx="3886200"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200">
                <a:solidFill>
                  <a:srgbClr val="6B6B6B"/>
                </a:solidFill>
              </a:defRPr>
            </a:pPr>
            <a:r>
              <a:rPr dirty="0"/>
              <a:t>Presented as a </a:t>
            </a:r>
            <a:r>
              <a:rPr b="1" dirty="0">
                <a:solidFill>
                  <a:srgbClr val="0A0A0A"/>
                </a:solidFill>
              </a:rPr>
              <a:t>general remote robotic arm system</a:t>
            </a:r>
            <a:r>
              <a:rPr dirty="0"/>
              <a:t> </a:t>
            </a:r>
            <a:r>
              <a:rPr dirty="0" smtClean="0"/>
              <a:t>with </a:t>
            </a:r>
            <a:r>
              <a:rPr dirty="0"/>
              <a:t>a fun demonstration layer on top.</a:t>
            </a:r>
          </a:p>
        </p:txBody>
      </p:sp>
      <p:sp>
        <p:nvSpPr>
          <p:cNvPr id="286" name="Shape 16"/>
          <p:cNvSpPr/>
          <p:nvPr/>
        </p:nvSpPr>
        <p:spPr>
          <a:xfrm>
            <a:off x="502919" y="4882896"/>
            <a:ext cx="73153" cy="73153"/>
          </a:xfrm>
          <a:prstGeom prst="rect">
            <a:avLst/>
          </a:prstGeom>
          <a:solidFill>
            <a:srgbClr val="0A0A0A"/>
          </a:solidFill>
          <a:ln w="12700">
            <a:solidFill>
              <a:srgbClr val="0A0A0A"/>
            </a:solidFill>
          </a:ln>
        </p:spPr>
        <p:txBody>
          <a:bodyPr lIns="45719" rIns="45719"/>
          <a:lstStyle/>
          <a:p>
            <a:endParaRPr/>
          </a:p>
        </p:txBody>
      </p:sp>
      <p:sp>
        <p:nvSpPr>
          <p:cNvPr id="287" name="Text 17"/>
          <p:cNvSpPr txBox="1"/>
          <p:nvPr/>
        </p:nvSpPr>
        <p:spPr>
          <a:xfrm>
            <a:off x="658368" y="4883404"/>
            <a:ext cx="27432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700" spc="150">
                <a:solidFill>
                  <a:srgbClr val="9A9A9A"/>
                </a:solidFill>
                <a:latin typeface="Consolas"/>
                <a:ea typeface="Consolas"/>
                <a:cs typeface="Consolas"/>
                <a:sym typeface="Consolas"/>
              </a:defRPr>
            </a:lvl1pPr>
          </a:lstStyle>
          <a:p>
            <a:r>
              <a:t>Vision-Guided Robotic Arm</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1032</Words>
  <Application>Microsoft Office PowerPoint</Application>
  <PresentationFormat>On-screen Show (16:9)</PresentationFormat>
  <Paragraphs>150</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Himani</dc:creator>
  <cp:lastModifiedBy>Himani</cp:lastModifiedBy>
  <cp:revision>1</cp:revision>
  <dcterms:modified xsi:type="dcterms:W3CDTF">2026-05-09T06:06:49Z</dcterms:modified>
</cp:coreProperties>
</file>